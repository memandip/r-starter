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4" Type="http://schemas.openxmlformats.org/officeDocument/2006/relationships/viewProps" Target="viewProps.xml" /><Relationship Id="rId1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6" Type="http://schemas.openxmlformats.org/officeDocument/2006/relationships/tableStyles" Target="tableStyles.xml" /><Relationship Id="rId1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Decision Tree and Random Forest Models Comparison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Roll Number: 17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2025-05-12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Data Generation and Preparation</a:t>
            </a:r>
          </a:p>
          <a:p>
            <a:pPr lvl="0"/>
            <a:r>
              <a:rPr/>
              <a:t>Model Fitting and Evaluation</a:t>
            </a:r>
          </a:p>
          <a:p>
            <a:pPr lvl="0"/>
            <a:r>
              <a:rPr/>
              <a:t>Model Comparison</a:t>
            </a:r>
          </a:p>
          <a:p>
            <a:pPr lvl="0"/>
            <a:r>
              <a:rPr/>
              <a:t>Conclusions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Required Packages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Data Generation Code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Model Fitting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Decision Tree Model</a:t>
            </a:r>
          </a:p>
        </p:txBody>
      </p:sp>
      <p:pic>
        <p:nvPicPr>
          <p:cNvPr descr="presentation_2_files/figure-pptx/decision_tree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Interpretation: Decision Tree Plot</a:t>
            </a:r>
          </a:p>
          <a:p>
            <a:pPr lvl="0"/>
            <a:r>
              <a:rPr/>
              <a:t>The plot above visualizes the structure of the fitted decision tree.</a:t>
            </a:r>
          </a:p>
          <a:p>
            <a:pPr lvl="0"/>
            <a:r>
              <a:rPr/>
              <a:t>Each node shows a split based on a predictor variable (e.g., x1, x2, x3, x4).</a:t>
            </a:r>
          </a:p>
          <a:p>
            <a:pPr lvl="0"/>
            <a:r>
              <a:rPr/>
              <a:t>The numbers at each node represent the number of observations for each class after the split.</a:t>
            </a:r>
          </a:p>
          <a:p>
            <a:pPr lvl="0"/>
            <a:r>
              <a:rPr/>
              <a:t>The tree helps us understand the sequence of decisions used to classify the data.</a:t>
            </a:r>
          </a:p>
          <a:p>
            <a:pPr lvl="0"/>
            <a:r>
              <a:rPr/>
              <a:t>Shallower splits (closer to the root) indicate more important variables for the initial classification.</a:t>
            </a:r>
          </a:p>
          <a:p>
            <a:pPr lvl="0"/>
            <a:r>
              <a:rPr/>
              <a:t>This plot is useful for model interpretability and understanding how predictions are made.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Random Forest Model</a:t>
            </a:r>
          </a:p>
        </p:txBody>
      </p:sp>
      <p:pic>
        <p:nvPicPr>
          <p:cNvPr descr="presentation_2_files/figure-pptx/random_fores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Interpretation: Variable Importance Plot</a:t>
            </a:r>
          </a:p>
          <a:p>
            <a:pPr lvl="0"/>
            <a:r>
              <a:rPr/>
              <a:t>The plot above shows the importance of each predictor variable in the random forest model.</a:t>
            </a:r>
          </a:p>
          <a:p>
            <a:pPr lvl="0"/>
            <a:r>
              <a:rPr/>
              <a:t>The x-axis (MeanDecreaseGini) measures how much each variable contributes to reducing impurity in the forest.</a:t>
            </a:r>
          </a:p>
          <a:p>
            <a:pPr lvl="0"/>
            <a:r>
              <a:rPr/>
              <a:t>Variables with higher values (e.g., x2) are more important for accurate classification.</a:t>
            </a:r>
          </a:p>
          <a:p>
            <a:pPr lvl="0"/>
            <a:r>
              <a:rPr/>
              <a:t>This plot helps identify which features are most influential in the model’s predictions.</a:t>
            </a:r>
          </a:p>
          <a:p>
            <a:pPr lvl="0"/>
            <a:r>
              <a:rPr/>
              <a:t>In this example, x2 is the most important variable, followed by x1, x3, and x4.</a:t>
            </a:r>
          </a:p>
          <a:p>
            <a:pPr lvl="0" indent="0">
              <a:buNone/>
            </a:pPr>
            <a:r>
              <a:rPr>
                <a:latin typeface="Courier"/>
              </a:rPr>
              <a:t>
## Model Evaluation
### Confusion Matrices
::: {.cell}
::: {.cell-output .cell-output-stdout}
</a:t>
            </a:r>
          </a:p>
          <a:p>
            <a:pPr lvl="0" indent="0" marL="0">
              <a:buNone/>
            </a:pPr>
            <a:r>
              <a:rPr/>
              <a:t>[1] “Decision Tree Confusion Matrix:”</a:t>
            </a:r>
          </a:p>
          <a:p>
            <a:pPr lvl="0" indent="0">
              <a:buNone/>
            </a:pPr>
            <a:r>
              <a:rPr>
                <a:latin typeface="Courier"/>
              </a:rPr>
              <a:t>
:::
::: {.cell-output .cell-output-stdout}
</a:t>
            </a:r>
          </a:p>
          <a:p>
            <a:pPr lvl="0" indent="0">
              <a:buNone/>
            </a:pPr>
            <a:r>
              <a:rPr>
                <a:latin typeface="Courier"/>
              </a:rPr>
              <a:t>      Reference</a:t>
            </a:r>
          </a:p>
          <a:p>
            <a:pPr lvl="0" indent="0" marL="0">
              <a:buNone/>
            </a:pPr>
            <a:r>
              <a:rPr/>
              <a:t>Prediction 1 2 3 1 77 9 3 2 4 49 4 3 1 2 0</a:t>
            </a:r>
          </a:p>
          <a:p>
            <a:pPr lvl="0" indent="0">
              <a:buNone/>
            </a:pPr>
            <a:r>
              <a:rPr>
                <a:latin typeface="Courier"/>
              </a:rPr>
              <a:t>
:::
::: {.cell-output .cell-output-stdout}
</a:t>
            </a:r>
          </a:p>
          <a:p>
            <a:pPr lvl="0" indent="0" marL="0">
              <a:buNone/>
            </a:pPr>
            <a:r>
              <a:rPr/>
              <a:t>[1] “Forest Confusion Matrix:”</a:t>
            </a:r>
          </a:p>
          <a:p>
            <a:pPr lvl="0" indent="0">
              <a:buNone/>
            </a:pPr>
            <a:r>
              <a:rPr>
                <a:latin typeface="Courier"/>
              </a:rPr>
              <a:t>
:::
::: {.cell-output .cell-output-stdout}
</a:t>
            </a:r>
          </a:p>
          <a:p>
            <a:pPr lvl="0" indent="0">
              <a:buNone/>
            </a:pPr>
            <a:r>
              <a:rPr>
                <a:latin typeface="Courier"/>
              </a:rPr>
              <a:t>      Reference</a:t>
            </a:r>
          </a:p>
          <a:p>
            <a:pPr lvl="0" indent="0" marL="0">
              <a:buNone/>
            </a:pPr>
            <a:r>
              <a:rPr/>
              <a:t>Prediction 1 2 3 1 77 5 0 2 5 52 6 3 0 3 1 ```</a:t>
            </a:r>
          </a:p>
          <a:p>
            <a:pPr lvl="0" indent="0" marL="0">
              <a:buNone/>
            </a:pPr>
            <a:r>
              <a:rPr/>
              <a:t>::: :::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Model Comparison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Performance Metrics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Kappa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Decision Tree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0.8456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0.7010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Random Forest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0.8725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0.7574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Key Findings</a:t>
            </a:r>
          </a:p>
          <a:p>
            <a:pPr lvl="0"/>
            <a:r>
              <a:rPr b="1"/>
              <a:t>Accuracy Comparison</a:t>
            </a:r>
            <a:r>
              <a:rPr/>
              <a:t>:</a:t>
            </a:r>
          </a:p>
          <a:p>
            <a:pPr lvl="1"/>
            <a:r>
              <a:rPr/>
              <a:t>Decision Tree: 84.56%</a:t>
            </a:r>
          </a:p>
          <a:p>
            <a:pPr lvl="1"/>
            <a:r>
              <a:rPr/>
              <a:t>Random Forest: 87.25%</a:t>
            </a:r>
          </a:p>
          <a:p>
            <a:pPr lvl="0"/>
            <a:r>
              <a:rPr b="1"/>
              <a:t>Kappa Statistics</a:t>
            </a:r>
            <a:r>
              <a:rPr/>
              <a:t>:</a:t>
            </a:r>
          </a:p>
          <a:p>
            <a:pPr lvl="1"/>
            <a:r>
              <a:rPr/>
              <a:t>Decision Tree: 0.7010</a:t>
            </a:r>
          </a:p>
          <a:p>
            <a:pPr lvl="1"/>
            <a:r>
              <a:rPr/>
              <a:t>Random Forest: 0.7574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Model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Decision Tree Advantages</a:t>
            </a:r>
          </a:p>
          <a:p>
            <a:pPr lvl="0"/>
            <a:r>
              <a:rPr/>
              <a:t>Simpler, more interpretable model</a:t>
            </a:r>
          </a:p>
          <a:p>
            <a:pPr lvl="0"/>
            <a:r>
              <a:rPr/>
              <a:t>Clear decision rules</a:t>
            </a:r>
          </a:p>
          <a:p>
            <a:pPr lvl="0"/>
            <a:r>
              <a:rPr/>
              <a:t>Lower computational cost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Random Forest Advantages</a:t>
            </a:r>
          </a:p>
          <a:p>
            <a:pPr lvl="0"/>
            <a:r>
              <a:rPr/>
              <a:t>Higher accuracy (87.25% vs 84.56%)</a:t>
            </a:r>
          </a:p>
          <a:p>
            <a:pPr lvl="0"/>
            <a:r>
              <a:rPr/>
              <a:t>Better Kappa statistic (0.7574 vs 0.7010)</a:t>
            </a:r>
          </a:p>
          <a:p>
            <a:pPr lvl="0"/>
            <a:r>
              <a:rPr/>
              <a:t>More robust predictions</a:t>
            </a:r>
          </a:p>
          <a:p>
            <a:pPr lvl="0"/>
            <a:r>
              <a:rPr/>
              <a:t>Built-in feature importance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Random Forest performs better in terms of both accuracy and Kappa statistic</a:t>
            </a:r>
          </a:p>
          <a:p>
            <a:pPr lvl="0"/>
            <a:r>
              <a:rPr/>
              <a:t>The improvement in accuracy (2.69%) and Kappa (0.0564) suggests Random Forest is the better choice</a:t>
            </a:r>
          </a:p>
          <a:p>
            <a:pPr lvl="0"/>
            <a:r>
              <a:rPr/>
              <a:t>Variable importance plot shows which predictors are most influential</a:t>
            </a:r>
          </a:p>
          <a:p>
            <a:pPr lvl="0"/>
            <a:r>
              <a:rPr/>
              <a:t>Consider using Random Forest when prediction accuracy is the primary goal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Thank You!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Questions?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Decision Tree and Random Forest Models Comparison</dc:title>
  <dc:creator>Roll Number: 17</dc:creator>
  <cp:keywords/>
  <dcterms:created xsi:type="dcterms:W3CDTF">2025-05-12T14:38:33Z</dcterms:created>
  <dcterms:modified xsi:type="dcterms:W3CDTF">2025-05-12T14:38:33Z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2025-05-12</vt:lpwstr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toc-title">
    <vt:lpwstr>Table of contents</vt:lpwstr>
  </property>
</Properties>
</file>