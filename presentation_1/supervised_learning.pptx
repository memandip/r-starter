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4.png"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Understanding Car Fuel Efficiency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 Data-Driven Analysis Using the mtcars Dataset</a:t>
            </a:r>
            <a:br/>
            <a:br/>
            <a:r>
              <a:rPr/>
              <a:t>Mandip Chaudhary (17)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Understanding Our Data</a:t>
            </a:r>
          </a:p>
        </p:txBody>
      </p:sp>
      <p:sp>
        <p:nvSpPr>
          <p:cNvPr id="4" name="Text Placeholder 3"/>
          <p:cNvSpPr>
            <a:spLocks noGrp="1"/>
          </p:cNvSpPr>
          <p:nvPr>
            <p:ph idx="2" sz="half" type="body"/>
          </p:nvPr>
        </p:nvSpPr>
        <p:spPr/>
        <p:txBody>
          <a:bodyPr/>
          <a:lstStyle/>
          <a:p>
            <a:pPr lvl="0" indent="0" marL="0">
              <a:spcBef>
                <a:spcPts val="3000"/>
              </a:spcBef>
              <a:buNone/>
            </a:pPr>
            <a:r>
              <a:rPr b="1"/>
              <a:t>About the Car Dataset</a:t>
            </a:r>
          </a:p>
          <a:p>
            <a:pPr lvl="0" indent="0" marL="0">
              <a:buNone/>
            </a:pPr>
            <a:r>
              <a:rPr b="1"/>
              <a:t>What We’re Working With:</a:t>
            </a:r>
            <a:r>
              <a:rPr/>
              <a:t> - 32 different car models from 1973-74 - Focus: How car features affect fuel efficiency - Goal: Predict miles per gallon (MPG)</a:t>
            </a:r>
          </a:p>
          <a:p>
            <a:pPr lvl="0" indent="0" marL="0">
              <a:buNone/>
            </a:pPr>
            <a:r>
              <a:rPr b="1"/>
              <a:t>Key Car Features:</a:t>
            </a:r>
            <a:r>
              <a:rPr/>
              <a:t> - </a:t>
            </a:r>
            <a:r>
              <a:rPr b="1"/>
              <a:t>Engine Stats:</a:t>
            </a:r>
            <a:r>
              <a:rPr/>
              <a:t> * Number of cylinders (4, 6, or 8) * Engine size (displacement) * Horsepower - </a:t>
            </a:r>
            <a:r>
              <a:rPr b="1"/>
              <a:t>Physical Features:</a:t>
            </a:r>
            <a:r>
              <a:rPr/>
              <a:t> * Car weight (in 1000 lbs) * Transmission type (Auto/Manual)</a:t>
            </a:r>
          </a:p>
        </p:txBody>
      </p:sp>
      <p:pic>
        <p:nvPicPr>
          <p:cNvPr descr="supervised_learning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Preparation: Training vs Testing Split</a:t>
            </a:r>
          </a:p>
        </p:txBody>
      </p:sp>
      <p:sp>
        <p:nvSpPr>
          <p:cNvPr id="3" name="Content Placeholder 2"/>
          <p:cNvSpPr>
            <a:spLocks noGrp="1"/>
          </p:cNvSpPr>
          <p:nvPr>
            <p:ph idx="1"/>
          </p:nvPr>
        </p:nvSpPr>
        <p:spPr/>
        <p:txBody>
          <a:bodyPr/>
          <a:lstStyle/>
          <a:p>
            <a:pPr lvl="0" indent="0" marL="0">
              <a:spcBef>
                <a:spcPts val="3000"/>
              </a:spcBef>
              <a:buNone/>
            </a:pPr>
            <a:r>
              <a:rPr b="1"/>
              <a:t>Robust Split Methodology</a:t>
            </a:r>
          </a:p>
          <a:p>
            <a:pPr lvl="0" indent="0">
              <a:buNone/>
            </a:pPr>
            <a:r>
              <a:rPr>
                <a:solidFill>
                  <a:srgbClr val="4758AB"/>
                </a:solidFill>
                <a:latin typeface="Courier"/>
              </a:rPr>
              <a:t>library</a:t>
            </a:r>
            <a:r>
              <a:rPr>
                <a:solidFill>
                  <a:srgbClr val="003B4F"/>
                </a:solidFill>
                <a:latin typeface="Courier"/>
              </a:rPr>
              <a:t>(datasets)</a:t>
            </a:r>
            <a:br/>
            <a:r>
              <a:rPr>
                <a:solidFill>
                  <a:srgbClr val="4758AB"/>
                </a:solidFill>
                <a:latin typeface="Courier"/>
              </a:rPr>
              <a:t>library</a:t>
            </a:r>
            <a:r>
              <a:rPr>
                <a:solidFill>
                  <a:srgbClr val="003B4F"/>
                </a:solidFill>
                <a:latin typeface="Courier"/>
              </a:rPr>
              <a:t>(glmnet)</a:t>
            </a:r>
            <a:br/>
            <a:r>
              <a:rPr>
                <a:solidFill>
                  <a:srgbClr val="4758AB"/>
                </a:solidFill>
                <a:latin typeface="Courier"/>
              </a:rPr>
              <a:t>set.seed</a:t>
            </a:r>
            <a:r>
              <a:rPr>
                <a:solidFill>
                  <a:srgbClr val="003B4F"/>
                </a:solidFill>
                <a:latin typeface="Courier"/>
              </a:rPr>
              <a:t>(</a:t>
            </a:r>
            <a:r>
              <a:rPr>
                <a:solidFill>
                  <a:srgbClr val="AD0000"/>
                </a:solidFill>
                <a:latin typeface="Courier"/>
              </a:rPr>
              <a:t>17</a:t>
            </a:r>
            <a:r>
              <a:rPr>
                <a:solidFill>
                  <a:srgbClr val="003B4F"/>
                </a:solidFill>
                <a:latin typeface="Courier"/>
              </a:rPr>
              <a:t>)</a:t>
            </a:r>
            <a:br/>
            <a:br/>
            <a:r>
              <a:rPr>
                <a:solidFill>
                  <a:srgbClr val="5E5E5E"/>
                </a:solidFill>
                <a:latin typeface="Courier"/>
              </a:rPr>
              <a:t># Data preparation</a:t>
            </a:r>
            <a:br/>
            <a:r>
              <a:rPr>
                <a:solidFill>
                  <a:srgbClr val="003B4F"/>
                </a:solidFill>
                <a:latin typeface="Courier"/>
              </a:rPr>
              <a:t>train_index &lt;- </a:t>
            </a:r>
            <a:r>
              <a:rPr>
                <a:solidFill>
                  <a:srgbClr val="4758AB"/>
                </a:solidFill>
                <a:latin typeface="Courier"/>
              </a:rPr>
              <a:t>sample</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4758AB"/>
                </a:solidFill>
                <a:latin typeface="Courier"/>
              </a:rPr>
              <a:t>nrow</a:t>
            </a:r>
            <a:r>
              <a:rPr>
                <a:solidFill>
                  <a:srgbClr val="003B4F"/>
                </a:solidFill>
                <a:latin typeface="Courier"/>
              </a:rPr>
              <a:t>(mtcars), </a:t>
            </a:r>
            <a:r>
              <a:rPr>
                <a:solidFill>
                  <a:srgbClr val="657422"/>
                </a:solidFill>
                <a:latin typeface="Courier"/>
              </a:rPr>
              <a:t>replace =</a:t>
            </a:r>
            <a:r>
              <a:rPr>
                <a:solidFill>
                  <a:srgbClr val="003B4F"/>
                </a:solidFill>
                <a:latin typeface="Courier"/>
              </a:rPr>
              <a:t> T, </a:t>
            </a:r>
            <a:r>
              <a:rPr>
                <a:solidFill>
                  <a:srgbClr val="657422"/>
                </a:solidFill>
                <a:latin typeface="Courier"/>
              </a:rPr>
              <a:t>prob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0.7</a:t>
            </a:r>
            <a:r>
              <a:rPr>
                <a:solidFill>
                  <a:srgbClr val="003B4F"/>
                </a:solidFill>
                <a:latin typeface="Courier"/>
              </a:rPr>
              <a:t>, </a:t>
            </a:r>
            <a:r>
              <a:rPr>
                <a:solidFill>
                  <a:srgbClr val="AD0000"/>
                </a:solidFill>
                <a:latin typeface="Courier"/>
              </a:rPr>
              <a:t>0.3</a:t>
            </a:r>
            <a:r>
              <a:rPr>
                <a:solidFill>
                  <a:srgbClr val="003B4F"/>
                </a:solidFill>
                <a:latin typeface="Courier"/>
              </a:rPr>
              <a:t>))</a:t>
            </a:r>
            <a:br/>
            <a:r>
              <a:rPr>
                <a:solidFill>
                  <a:srgbClr val="003B4F"/>
                </a:solidFill>
                <a:latin typeface="Courier"/>
              </a:rPr>
              <a:t>train_data &lt;- mtcars[train_index</a:t>
            </a:r>
            <a:r>
              <a:rPr>
                <a:solidFill>
                  <a:srgbClr val="5E5E5E"/>
                </a:solidFill>
                <a:latin typeface="Courier"/>
              </a:rPr>
              <a:t>==</a:t>
            </a:r>
            <a:r>
              <a:rPr>
                <a:solidFill>
                  <a:srgbClr val="AD0000"/>
                </a:solidFill>
                <a:latin typeface="Courier"/>
              </a:rPr>
              <a:t>1</a:t>
            </a:r>
            <a:r>
              <a:rPr>
                <a:solidFill>
                  <a:srgbClr val="003B4F"/>
                </a:solidFill>
                <a:latin typeface="Courier"/>
              </a:rPr>
              <a:t>, ]</a:t>
            </a:r>
            <a:br/>
            <a:r>
              <a:rPr>
                <a:solidFill>
                  <a:srgbClr val="003B4F"/>
                </a:solidFill>
                <a:latin typeface="Courier"/>
              </a:rPr>
              <a:t>test_data &lt;- mtcars[train_index</a:t>
            </a:r>
            <a:r>
              <a:rPr>
                <a:solidFill>
                  <a:srgbClr val="5E5E5E"/>
                </a:solidFill>
                <a:latin typeface="Courier"/>
              </a:rPr>
              <a:t>==</a:t>
            </a:r>
            <a:r>
              <a:rPr>
                <a:solidFill>
                  <a:srgbClr val="AD0000"/>
                </a:solidFill>
                <a:latin typeface="Courier"/>
              </a:rPr>
              <a:t>2</a:t>
            </a:r>
            <a:r>
              <a:rPr>
                <a:solidFill>
                  <a:srgbClr val="003B4F"/>
                </a:solidFill>
                <a:latin typeface="Courier"/>
              </a:rPr>
              <a:t>, ]</a:t>
            </a:r>
            <a:br/>
            <a:br/>
            <a:r>
              <a:rPr>
                <a:solidFill>
                  <a:srgbClr val="5E5E5E"/>
                </a:solidFill>
                <a:latin typeface="Courier"/>
              </a:rPr>
              <a:t># Ensure train_data is properly defined in global environment</a:t>
            </a:r>
            <a:br/>
            <a:r>
              <a:rPr>
                <a:solidFill>
                  <a:srgbClr val="4758AB"/>
                </a:solidFill>
                <a:latin typeface="Courier"/>
              </a:rPr>
              <a:t>assign</a:t>
            </a:r>
            <a:r>
              <a:rPr>
                <a:solidFill>
                  <a:srgbClr val="003B4F"/>
                </a:solidFill>
                <a:latin typeface="Courier"/>
              </a:rPr>
              <a:t>(</a:t>
            </a:r>
            <a:r>
              <a:rPr>
                <a:solidFill>
                  <a:srgbClr val="20794D"/>
                </a:solidFill>
                <a:latin typeface="Courier"/>
              </a:rPr>
              <a:t>"train_data"</a:t>
            </a:r>
            <a:r>
              <a:rPr>
                <a:solidFill>
                  <a:srgbClr val="003B4F"/>
                </a:solidFill>
                <a:latin typeface="Courier"/>
              </a:rPr>
              <a:t>, train_data, </a:t>
            </a:r>
            <a:r>
              <a:rPr>
                <a:solidFill>
                  <a:srgbClr val="657422"/>
                </a:solidFill>
                <a:latin typeface="Courier"/>
              </a:rPr>
              <a:t>envir =</a:t>
            </a:r>
            <a:r>
              <a:rPr>
                <a:solidFill>
                  <a:srgbClr val="003B4F"/>
                </a:solidFill>
                <a:latin typeface="Courier"/>
              </a:rPr>
              <a:t> .GlobalEnv)</a:t>
            </a:r>
            <a:br/>
            <a:r>
              <a:rPr>
                <a:solidFill>
                  <a:srgbClr val="4758AB"/>
                </a:solidFill>
                <a:latin typeface="Courier"/>
              </a:rPr>
              <a:t>assign</a:t>
            </a:r>
            <a:r>
              <a:rPr>
                <a:solidFill>
                  <a:srgbClr val="003B4F"/>
                </a:solidFill>
                <a:latin typeface="Courier"/>
              </a:rPr>
              <a:t>(</a:t>
            </a:r>
            <a:r>
              <a:rPr>
                <a:solidFill>
                  <a:srgbClr val="20794D"/>
                </a:solidFill>
                <a:latin typeface="Courier"/>
              </a:rPr>
              <a:t>"test_data"</a:t>
            </a:r>
            <a:r>
              <a:rPr>
                <a:solidFill>
                  <a:srgbClr val="003B4F"/>
                </a:solidFill>
                <a:latin typeface="Courier"/>
              </a:rPr>
              <a:t>, test_data, </a:t>
            </a:r>
            <a:r>
              <a:rPr>
                <a:solidFill>
                  <a:srgbClr val="657422"/>
                </a:solidFill>
                <a:latin typeface="Courier"/>
              </a:rPr>
              <a:t>envir =</a:t>
            </a:r>
            <a:r>
              <a:rPr>
                <a:solidFill>
                  <a:srgbClr val="003B4F"/>
                </a:solidFill>
                <a:latin typeface="Courier"/>
              </a:rPr>
              <a:t> .GlobalEnv)</a:t>
            </a:r>
            <a:br/>
            <a:br/>
            <a:r>
              <a:rPr>
                <a:solidFill>
                  <a:srgbClr val="5E5E5E"/>
                </a:solidFill>
                <a:latin typeface="Courier"/>
              </a:rPr>
              <a:t># Prepare LASSO matrices once</a:t>
            </a:r>
            <a:br/>
            <a:r>
              <a:rPr>
                <a:solidFill>
                  <a:srgbClr val="003B4F"/>
                </a:solidFill>
                <a:latin typeface="Courier"/>
              </a:rPr>
              <a:t>predictors &lt;- </a:t>
            </a:r>
            <a:r>
              <a:rPr>
                <a:solidFill>
                  <a:srgbClr val="4758AB"/>
                </a:solidFill>
                <a:latin typeface="Courier"/>
              </a:rPr>
              <a:t>setdiff</a:t>
            </a:r>
            <a:r>
              <a:rPr>
                <a:solidFill>
                  <a:srgbClr val="003B4F"/>
                </a:solidFill>
                <a:latin typeface="Courier"/>
              </a:rPr>
              <a:t>(</a:t>
            </a:r>
            <a:r>
              <a:rPr>
                <a:solidFill>
                  <a:srgbClr val="4758AB"/>
                </a:solidFill>
                <a:latin typeface="Courier"/>
              </a:rPr>
              <a:t>names</a:t>
            </a:r>
            <a:r>
              <a:rPr>
                <a:solidFill>
                  <a:srgbClr val="003B4F"/>
                </a:solidFill>
                <a:latin typeface="Courier"/>
              </a:rPr>
              <a:t>(train_data), </a:t>
            </a:r>
            <a:r>
              <a:rPr>
                <a:solidFill>
                  <a:srgbClr val="20794D"/>
                </a:solidFill>
                <a:latin typeface="Courier"/>
              </a:rPr>
              <a:t>"mpg"</a:t>
            </a:r>
            <a:r>
              <a:rPr>
                <a:solidFill>
                  <a:srgbClr val="003B4F"/>
                </a:solidFill>
                <a:latin typeface="Courier"/>
              </a:rPr>
              <a:t>)</a:t>
            </a:r>
            <a:br/>
            <a:r>
              <a:rPr>
                <a:solidFill>
                  <a:srgbClr val="003B4F"/>
                </a:solidFill>
                <a:latin typeface="Courier"/>
              </a:rPr>
              <a:t>x_train &lt;- </a:t>
            </a:r>
            <a:r>
              <a:rPr>
                <a:solidFill>
                  <a:srgbClr val="4758AB"/>
                </a:solidFill>
                <a:latin typeface="Courier"/>
              </a:rPr>
              <a:t>as.matrix</a:t>
            </a:r>
            <a:r>
              <a:rPr>
                <a:solidFill>
                  <a:srgbClr val="003B4F"/>
                </a:solidFill>
                <a:latin typeface="Courier"/>
              </a:rPr>
              <a:t>(train_data[, predictors])</a:t>
            </a:r>
            <a:br/>
            <a:r>
              <a:rPr>
                <a:solidFill>
                  <a:srgbClr val="003B4F"/>
                </a:solidFill>
                <a:latin typeface="Courier"/>
              </a:rPr>
              <a:t>y_train &lt;- train_data</a:t>
            </a:r>
            <a:r>
              <a:rPr>
                <a:solidFill>
                  <a:srgbClr val="5E5E5E"/>
                </a:solidFill>
                <a:latin typeface="Courier"/>
              </a:rPr>
              <a:t>$</a:t>
            </a:r>
            <a:r>
              <a:rPr>
                <a:solidFill>
                  <a:srgbClr val="003B4F"/>
                </a:solidFill>
                <a:latin typeface="Courier"/>
              </a:rPr>
              <a:t>mpg</a:t>
            </a:r>
            <a:br/>
            <a:br/>
            <a:r>
              <a:rPr>
                <a:solidFill>
                  <a:srgbClr val="5E5E5E"/>
                </a:solidFill>
                <a:latin typeface="Courier"/>
              </a:rPr>
              <a:t># Define these in global environment for later use</a:t>
            </a:r>
            <a:br/>
            <a:r>
              <a:rPr>
                <a:solidFill>
                  <a:srgbClr val="4758AB"/>
                </a:solidFill>
                <a:latin typeface="Courier"/>
              </a:rPr>
              <a:t>assign</a:t>
            </a:r>
            <a:r>
              <a:rPr>
                <a:solidFill>
                  <a:srgbClr val="003B4F"/>
                </a:solidFill>
                <a:latin typeface="Courier"/>
              </a:rPr>
              <a:t>(</a:t>
            </a:r>
            <a:r>
              <a:rPr>
                <a:solidFill>
                  <a:srgbClr val="20794D"/>
                </a:solidFill>
                <a:latin typeface="Courier"/>
              </a:rPr>
              <a:t>"x_train"</a:t>
            </a:r>
            <a:r>
              <a:rPr>
                <a:solidFill>
                  <a:srgbClr val="003B4F"/>
                </a:solidFill>
                <a:latin typeface="Courier"/>
              </a:rPr>
              <a:t>, x_train, </a:t>
            </a:r>
            <a:r>
              <a:rPr>
                <a:solidFill>
                  <a:srgbClr val="657422"/>
                </a:solidFill>
                <a:latin typeface="Courier"/>
              </a:rPr>
              <a:t>envir =</a:t>
            </a:r>
            <a:r>
              <a:rPr>
                <a:solidFill>
                  <a:srgbClr val="003B4F"/>
                </a:solidFill>
                <a:latin typeface="Courier"/>
              </a:rPr>
              <a:t> .GlobalEnv)</a:t>
            </a:r>
            <a:br/>
            <a:r>
              <a:rPr>
                <a:solidFill>
                  <a:srgbClr val="4758AB"/>
                </a:solidFill>
                <a:latin typeface="Courier"/>
              </a:rPr>
              <a:t>assign</a:t>
            </a:r>
            <a:r>
              <a:rPr>
                <a:solidFill>
                  <a:srgbClr val="003B4F"/>
                </a:solidFill>
                <a:latin typeface="Courier"/>
              </a:rPr>
              <a:t>(</a:t>
            </a:r>
            <a:r>
              <a:rPr>
                <a:solidFill>
                  <a:srgbClr val="20794D"/>
                </a:solidFill>
                <a:latin typeface="Courier"/>
              </a:rPr>
              <a:t>"y_train"</a:t>
            </a:r>
            <a:r>
              <a:rPr>
                <a:solidFill>
                  <a:srgbClr val="003B4F"/>
                </a:solidFill>
                <a:latin typeface="Courier"/>
              </a:rPr>
              <a:t>, y_train, </a:t>
            </a:r>
            <a:r>
              <a:rPr>
                <a:solidFill>
                  <a:srgbClr val="657422"/>
                </a:solidFill>
                <a:latin typeface="Courier"/>
              </a:rPr>
              <a:t>envir =</a:t>
            </a:r>
            <a:r>
              <a:rPr>
                <a:solidFill>
                  <a:srgbClr val="003B4F"/>
                </a:solidFill>
                <a:latin typeface="Courier"/>
              </a:rPr>
              <a:t> .GlobalEnv)</a:t>
            </a:r>
          </a:p>
          <a:p>
            <a:pPr lvl="0" indent="0" marL="0">
              <a:buNone/>
            </a:pPr>
            <a:r>
              <a:rPr b="1"/>
              <a:t>Training Dataset (70%)</a:t>
            </a:r>
            <a:r>
              <a:rPr/>
              <a:t> - Size: 20 observations - Purpose: Model building and parameter estimation - Used for: Initial modeling, BLUE analysis, VIF calculations</a:t>
            </a:r>
          </a:p>
          <a:p>
            <a:pPr lvl="0" indent="0" marL="0">
              <a:buNone/>
            </a:pPr>
            <a:r>
              <a:rPr b="1"/>
              <a:t>Testing Dataset (30%)</a:t>
            </a:r>
            <a:r>
              <a:rPr/>
              <a:t> - Size: 12 observations - Purpose: Unbiased performance evaluation - Used for: Model validation, prediction accuracy</a:t>
            </a:r>
          </a:p>
          <a:p>
            <a:pPr lvl="0" indent="0" marL="0">
              <a:spcBef>
                <a:spcPts val="3000"/>
              </a:spcBef>
              <a:buNone/>
            </a:pPr>
            <a:r>
              <a:rPr b="1"/>
              <a:t>Data Characteristics:</a:t>
            </a:r>
          </a:p>
          <a:p>
            <a:pPr lvl="0" indent="0" marL="0">
              <a:buNone/>
            </a:pPr>
            <a:r>
              <a:rPr/>
              <a:t>Training Set MPG Statistics: - Mean: 21.97 - Median: 20.35 - Range: 14.3 - 33.9</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Linear Regression Analysis</a:t>
            </a:r>
          </a:p>
        </p:txBody>
      </p:sp>
      <p:sp>
        <p:nvSpPr>
          <p:cNvPr id="3" name="Content Placeholder 2"/>
          <p:cNvSpPr>
            <a:spLocks noGrp="1"/>
          </p:cNvSpPr>
          <p:nvPr>
            <p:ph idx="1"/>
          </p:nvPr>
        </p:nvSpPr>
        <p:spPr/>
        <p:txBody>
          <a:bodyPr/>
          <a:lstStyle/>
          <a:p>
            <a:pPr lvl="0" indent="0" marL="0">
              <a:spcBef>
                <a:spcPts val="3000"/>
              </a:spcBef>
              <a:buNone/>
            </a:pPr>
            <a:r>
              <a:rPr b="1"/>
              <a:t>Individual Variable Performance</a:t>
            </a:r>
          </a:p>
          <a:p>
            <a:pPr lvl="0" indent="0" marL="0">
              <a:buNone/>
            </a:pPr>
            <a:r>
              <a:rPr b="1"/>
              <a:t>Top Performing Variables (R² values):</a:t>
            </a:r>
          </a:p>
          <a:p>
            <a:pPr lvl="0" indent="0">
              <a:buNone/>
            </a:pPr>
            <a:r>
              <a:rPr>
                <a:latin typeface="Courier"/>
              </a:rPr>
              <a:t>cyl: 73.2% (p = 0.0000014968)
wt: 73.2% (p = 0.0000015375)
disp: 67.9% (p = 0.0000080226)
hp: 56.8% (p = 0.0001238260)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BLUE Test Results</a:t>
            </a:r>
          </a:p>
        </p:txBody>
      </p:sp>
      <p:sp>
        <p:nvSpPr>
          <p:cNvPr id="4" name="Text Placeholder 3"/>
          <p:cNvSpPr>
            <a:spLocks noGrp="1"/>
          </p:cNvSpPr>
          <p:nvPr>
            <p:ph idx="2" sz="half" type="body"/>
          </p:nvPr>
        </p:nvSpPr>
        <p:spPr/>
        <p:txBody>
          <a:bodyPr/>
          <a:lstStyle/>
          <a:p>
            <a:pPr lvl="0" indent="0" marL="0">
              <a:spcBef>
                <a:spcPts val="3000"/>
              </a:spcBef>
              <a:buNone/>
            </a:pPr>
            <a:r>
              <a:rPr b="1"/>
              <a:t>Model Assessment Summary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647700"/>
                <a:gridCol w="863600"/>
                <a:gridCol w="1003300"/>
                <a:gridCol w="1155700"/>
                <a:gridCol w="1003300"/>
                <a:gridCol w="431800"/>
              </a:tblGrid>
              <a:tr h="0">
                <a:tc>
                  <a:txBody>
                    <a:bodyPr/>
                    <a:lstStyle/>
                    <a:p>
                      <a:pPr lvl="0" indent="0" marL="0" algn="l">
                        <a:buNone/>
                      </a:pPr>
                      <a:r>
                        <a:rPr/>
                        <a:t>Variable</a:t>
                      </a:r>
                    </a:p>
                  </a:txBody>
                  <a:tcPr/>
                </a:tc>
                <a:tc>
                  <a:txBody>
                    <a:bodyPr/>
                    <a:lstStyle/>
                    <a:p>
                      <a:pPr lvl="0" indent="0" marL="0" algn="ctr">
                        <a:buNone/>
                      </a:pPr>
                      <a:r>
                        <a:rPr/>
                        <a:t>R² &gt; 0.5</a:t>
                      </a:r>
                    </a:p>
                  </a:txBody>
                  <a:tcPr/>
                </a:tc>
                <a:tc>
                  <a:txBody>
                    <a:bodyPr/>
                    <a:lstStyle/>
                    <a:p>
                      <a:pPr lvl="0" indent="0" marL="0" algn="ctr">
                        <a:buNone/>
                      </a:pPr>
                      <a:r>
                        <a:rPr/>
                        <a:t>ANOVA sig.</a:t>
                      </a:r>
                    </a:p>
                  </a:txBody>
                  <a:tcPr/>
                </a:tc>
                <a:tc>
                  <a:txBody>
                    <a:bodyPr/>
                    <a:lstStyle/>
                    <a:p>
                      <a:pPr lvl="0" indent="0" marL="0" algn="ctr">
                        <a:buNone/>
                      </a:pPr>
                      <a:r>
                        <a:rPr/>
                        <a:t>Intercept sig.</a:t>
                      </a:r>
                    </a:p>
                  </a:txBody>
                  <a:tcPr/>
                </a:tc>
                <a:tc>
                  <a:txBody>
                    <a:bodyPr/>
                    <a:lstStyle/>
                    <a:p>
                      <a:pPr lvl="0" indent="0" marL="0" algn="ctr">
                        <a:buNone/>
                      </a:pPr>
                      <a:r>
                        <a:rPr/>
                        <a:t>Coef sig.</a:t>
                      </a:r>
                    </a:p>
                  </a:txBody>
                  <a:tcPr/>
                </a:tc>
                <a:tc>
                  <a:txBody>
                    <a:bodyPr/>
                    <a:lstStyle/>
                    <a:p>
                      <a:pPr lvl="0" indent="0" marL="0" algn="ctr">
                        <a:buNone/>
                      </a:pPr>
                      <a:r>
                        <a:rPr/>
                        <a:t>BLUE</a:t>
                      </a:r>
                    </a:p>
                  </a:txBody>
                  <a:tcPr/>
                </a:tc>
              </a:tr>
              <a:tr h="0">
                <a:tc>
                  <a:txBody>
                    <a:bodyPr/>
                    <a:lstStyle/>
                    <a:p>
                      <a:pPr lvl="0" indent="0" marL="0" algn="l">
                        <a:buNone/>
                      </a:pPr>
                      <a:r>
                        <a:rPr/>
                        <a:t>cyl</a:t>
                      </a:r>
                    </a:p>
                  </a:txBody>
                </a:tc>
                <a:tc>
                  <a:txBody>
                    <a:bodyPr/>
                    <a:lstStyle/>
                    <a:p>
                      <a:pPr lvl="0" indent="0" marL="0" algn="ctr">
                        <a:buNone/>
                      </a:pPr>
                      <a:r>
                        <a:rPr/>
                        <a:t>Yes (0.73)</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a:t>
                      </a:r>
                    </a:p>
                  </a:txBody>
                </a:tc>
              </a:tr>
              <a:tr h="0">
                <a:tc>
                  <a:txBody>
                    <a:bodyPr/>
                    <a:lstStyle/>
                    <a:p>
                      <a:pPr lvl="0" indent="0" marL="0" algn="l">
                        <a:buNone/>
                      </a:pPr>
                      <a:r>
                        <a:rPr/>
                        <a:t>wt</a:t>
                      </a:r>
                    </a:p>
                  </a:txBody>
                </a:tc>
                <a:tc>
                  <a:txBody>
                    <a:bodyPr/>
                    <a:lstStyle/>
                    <a:p>
                      <a:pPr lvl="0" indent="0" marL="0" algn="ctr">
                        <a:buNone/>
                      </a:pPr>
                      <a:r>
                        <a:rPr/>
                        <a:t>Yes (0.73)</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a:t>
                      </a:r>
                    </a:p>
                  </a:txBody>
                </a:tc>
              </a:tr>
              <a:tr h="0">
                <a:tc>
                  <a:txBody>
                    <a:bodyPr/>
                    <a:lstStyle/>
                    <a:p>
                      <a:pPr lvl="0" indent="0" marL="0" algn="l">
                        <a:buNone/>
                      </a:pPr>
                      <a:r>
                        <a:rPr/>
                        <a:t>disp</a:t>
                      </a:r>
                    </a:p>
                  </a:txBody>
                </a:tc>
                <a:tc>
                  <a:txBody>
                    <a:bodyPr/>
                    <a:lstStyle/>
                    <a:p>
                      <a:pPr lvl="0" indent="0" marL="0" algn="ctr">
                        <a:buNone/>
                      </a:pPr>
                      <a:r>
                        <a:rPr/>
                        <a:t>Yes (0.68)</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a:t>
                      </a:r>
                    </a:p>
                  </a:txBody>
                </a:tc>
              </a:tr>
              <a:tr h="0">
                <a:tc>
                  <a:txBody>
                    <a:bodyPr/>
                    <a:lstStyle/>
                    <a:p>
                      <a:pPr lvl="0" indent="0" marL="0" algn="l">
                        <a:buNone/>
                      </a:pPr>
                      <a:r>
                        <a:rPr/>
                        <a:t>hp</a:t>
                      </a:r>
                    </a:p>
                  </a:txBody>
                </a:tc>
                <a:tc>
                  <a:txBody>
                    <a:bodyPr/>
                    <a:lstStyle/>
                    <a:p>
                      <a:pPr lvl="0" indent="0" marL="0" algn="ctr">
                        <a:buNone/>
                      </a:pPr>
                      <a:r>
                        <a:rPr/>
                        <a:t>Yes (0.57)</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 (&lt;0.001)</a:t>
                      </a:r>
                    </a:p>
                  </a:txBody>
                </a:tc>
                <a:tc>
                  <a:txBody>
                    <a:bodyPr/>
                    <a:lstStyle/>
                    <a:p>
                      <a:pPr lvl="0" indent="0" marL="0" algn="ctr">
                        <a:buNone/>
                      </a:pPr>
                      <a:r>
                        <a:rPr/>
                        <a:t>Yes</a:t>
                      </a:r>
                    </a:p>
                  </a:txBody>
                </a:tc>
              </a:tr>
              <a:tr h="0">
                <a:tc>
                  <a:txBody>
                    <a:bodyPr/>
                    <a:lstStyle/>
                    <a:p>
                      <a:pPr lvl="0" indent="0" marL="0" algn="l">
                        <a:buNone/>
                      </a:pPr>
                      <a:r>
                        <a:rPr/>
                        <a:t>drat</a:t>
                      </a:r>
                    </a:p>
                  </a:txBody>
                </a:tc>
                <a:tc>
                  <a:txBody>
                    <a:bodyPr/>
                    <a:lstStyle/>
                    <a:p>
                      <a:pPr lvl="0" indent="0" marL="0" algn="ctr">
                        <a:buNone/>
                      </a:pPr>
                      <a:r>
                        <a:rPr/>
                        <a:t>Yes (0.53)</a:t>
                      </a:r>
                    </a:p>
                  </a:txBody>
                </a:tc>
                <a:tc>
                  <a:txBody>
                    <a:bodyPr/>
                    <a:lstStyle/>
                    <a:p>
                      <a:pPr lvl="0" indent="0" marL="0" algn="ctr">
                        <a:buNone/>
                      </a:pPr>
                      <a:r>
                        <a:rPr/>
                        <a:t>Yes (&lt;0.001)</a:t>
                      </a:r>
                    </a:p>
                  </a:txBody>
                </a:tc>
                <a:tc>
                  <a:txBody>
                    <a:bodyPr/>
                    <a:lstStyle/>
                    <a:p>
                      <a:pPr lvl="0" indent="0" marL="0" algn="ctr">
                        <a:buNone/>
                      </a:pPr>
                      <a:r>
                        <a:rPr/>
                        <a:t>No (0.249)</a:t>
                      </a:r>
                    </a:p>
                  </a:txBody>
                </a:tc>
                <a:tc>
                  <a:txBody>
                    <a:bodyPr/>
                    <a:lstStyle/>
                    <a:p>
                      <a:pPr lvl="0" indent="0" marL="0" algn="ctr">
                        <a:buNone/>
                      </a:pPr>
                      <a:r>
                        <a:rPr/>
                        <a:t>Yes (&lt;0.001)</a:t>
                      </a:r>
                    </a:p>
                  </a:txBody>
                </a:tc>
                <a:tc>
                  <a:txBody>
                    <a:bodyPr/>
                    <a:lstStyle/>
                    <a:p>
                      <a:pPr lvl="0" indent="0" marL="0" algn="ctr">
                        <a:buNone/>
                      </a:pPr>
                      <a:r>
                        <a:rPr/>
                        <a:t>No</a:t>
                      </a:r>
                    </a:p>
                  </a:txBody>
                </a:tc>
              </a:tr>
              <a:tr h="0">
                <a:tc>
                  <a:txBody>
                    <a:bodyPr/>
                    <a:lstStyle/>
                    <a:p>
                      <a:pPr lvl="0" indent="0" marL="0" algn="l">
                        <a:buNone/>
                      </a:pPr>
                      <a:r>
                        <a:rPr/>
                        <a:t>qsec</a:t>
                      </a:r>
                    </a:p>
                  </a:txBody>
                </a:tc>
                <a:tc>
                  <a:txBody>
                    <a:bodyPr/>
                    <a:lstStyle/>
                    <a:p>
                      <a:pPr lvl="0" indent="0" marL="0" algn="ctr">
                        <a:buNone/>
                      </a:pPr>
                      <a:r>
                        <a:rPr/>
                        <a:t>No (0.23)</a:t>
                      </a:r>
                    </a:p>
                  </a:txBody>
                </a:tc>
                <a:tc>
                  <a:txBody>
                    <a:bodyPr/>
                    <a:lstStyle/>
                    <a:p>
                      <a:pPr lvl="0" indent="0" marL="0" algn="ctr">
                        <a:buNone/>
                      </a:pPr>
                      <a:r>
                        <a:rPr/>
                        <a:t>Yes (0.031)</a:t>
                      </a:r>
                    </a:p>
                  </a:txBody>
                </a:tc>
                <a:tc>
                  <a:txBody>
                    <a:bodyPr/>
                    <a:lstStyle/>
                    <a:p>
                      <a:pPr lvl="0" indent="0" marL="0" algn="ctr">
                        <a:buNone/>
                      </a:pPr>
                      <a:r>
                        <a:rPr/>
                        <a:t>No (0.424)</a:t>
                      </a:r>
                    </a:p>
                  </a:txBody>
                </a:tc>
                <a:tc>
                  <a:txBody>
                    <a:bodyPr/>
                    <a:lstStyle/>
                    <a:p>
                      <a:pPr lvl="0" indent="0" marL="0" algn="ctr">
                        <a:buNone/>
                      </a:pPr>
                      <a:r>
                        <a:rPr/>
                        <a:t>Yes (0.031)</a:t>
                      </a:r>
                    </a:p>
                  </a:txBody>
                </a:tc>
                <a:tc>
                  <a:txBody>
                    <a:bodyPr/>
                    <a:lstStyle/>
                    <a:p>
                      <a:pPr lvl="0" indent="0" marL="0" algn="ctr">
                        <a:buNone/>
                      </a:pPr>
                      <a:r>
                        <a:rPr/>
                        <a:t>No</a:t>
                      </a:r>
                    </a:p>
                  </a:txBody>
                </a:tc>
              </a:tr>
              <a:tr h="0">
                <a:tc>
                  <a:txBody>
                    <a:bodyPr/>
                    <a:lstStyle/>
                    <a:p>
                      <a:pPr lvl="0" indent="0" marL="0" algn="l">
                        <a:buNone/>
                      </a:pPr>
                      <a:r>
                        <a:rPr/>
                        <a:t>vs</a:t>
                      </a:r>
                    </a:p>
                  </a:txBody>
                </a:tc>
                <a:tc>
                  <a:txBody>
                    <a:bodyPr/>
                    <a:lstStyle/>
                    <a:p>
                      <a:pPr lvl="0" indent="0" marL="0" algn="ctr">
                        <a:buNone/>
                      </a:pPr>
                      <a:r>
                        <a:rPr/>
                        <a:t>No (0.36)</a:t>
                      </a:r>
                    </a:p>
                  </a:txBody>
                </a:tc>
                <a:tc>
                  <a:txBody>
                    <a:bodyPr/>
                    <a:lstStyle/>
                    <a:p>
                      <a:pPr lvl="0" indent="0" marL="0" algn="ctr">
                        <a:buNone/>
                      </a:pPr>
                      <a:r>
                        <a:rPr/>
                        <a:t>Yes (0.005)</a:t>
                      </a:r>
                    </a:p>
                  </a:txBody>
                </a:tc>
                <a:tc>
                  <a:txBody>
                    <a:bodyPr/>
                    <a:lstStyle/>
                    <a:p>
                      <a:pPr lvl="0" indent="0" marL="0" algn="ctr">
                        <a:buNone/>
                      </a:pPr>
                      <a:r>
                        <a:rPr/>
                        <a:t>Yes (&lt;0.001)</a:t>
                      </a:r>
                    </a:p>
                  </a:txBody>
                </a:tc>
                <a:tc>
                  <a:txBody>
                    <a:bodyPr/>
                    <a:lstStyle/>
                    <a:p>
                      <a:pPr lvl="0" indent="0" marL="0" algn="ctr">
                        <a:buNone/>
                      </a:pPr>
                      <a:r>
                        <a:rPr/>
                        <a:t>Yes (0.005)</a:t>
                      </a:r>
                    </a:p>
                  </a:txBody>
                </a:tc>
                <a:tc>
                  <a:txBody>
                    <a:bodyPr/>
                    <a:lstStyle/>
                    <a:p>
                      <a:pPr lvl="0" indent="0" marL="0" algn="ctr">
                        <a:buNone/>
                      </a:pPr>
                      <a:r>
                        <a:rPr/>
                        <a:t>No</a:t>
                      </a:r>
                    </a:p>
                  </a:txBody>
                </a:tc>
              </a:tr>
              <a:tr h="0">
                <a:tc>
                  <a:txBody>
                    <a:bodyPr/>
                    <a:lstStyle/>
                    <a:p>
                      <a:pPr lvl="0" indent="0" marL="0" algn="l">
                        <a:buNone/>
                      </a:pPr>
                      <a:r>
                        <a:rPr/>
                        <a:t>am</a:t>
                      </a:r>
                    </a:p>
                  </a:txBody>
                </a:tc>
                <a:tc>
                  <a:txBody>
                    <a:bodyPr/>
                    <a:lstStyle/>
                    <a:p>
                      <a:pPr lvl="0" indent="0" marL="0" algn="ctr">
                        <a:buNone/>
                      </a:pPr>
                      <a:r>
                        <a:rPr/>
                        <a:t>No (0.41)</a:t>
                      </a:r>
                    </a:p>
                  </a:txBody>
                </a:tc>
                <a:tc>
                  <a:txBody>
                    <a:bodyPr/>
                    <a:lstStyle/>
                    <a:p>
                      <a:pPr lvl="0" indent="0" marL="0" algn="ctr">
                        <a:buNone/>
                      </a:pPr>
                      <a:r>
                        <a:rPr/>
                        <a:t>Yes (0.002)</a:t>
                      </a:r>
                    </a:p>
                  </a:txBody>
                </a:tc>
                <a:tc>
                  <a:txBody>
                    <a:bodyPr/>
                    <a:lstStyle/>
                    <a:p>
                      <a:pPr lvl="0" indent="0" marL="0" algn="ctr">
                        <a:buNone/>
                      </a:pPr>
                      <a:r>
                        <a:rPr/>
                        <a:t>Yes (&lt;0.001)</a:t>
                      </a:r>
                    </a:p>
                  </a:txBody>
                </a:tc>
                <a:tc>
                  <a:txBody>
                    <a:bodyPr/>
                    <a:lstStyle/>
                    <a:p>
                      <a:pPr lvl="0" indent="0" marL="0" algn="ctr">
                        <a:buNone/>
                      </a:pPr>
                      <a:r>
                        <a:rPr/>
                        <a:t>Yes (0.002)</a:t>
                      </a:r>
                    </a:p>
                  </a:txBody>
                </a:tc>
                <a:tc>
                  <a:txBody>
                    <a:bodyPr/>
                    <a:lstStyle/>
                    <a:p>
                      <a:pPr lvl="0" indent="0" marL="0" algn="ctr">
                        <a:buNone/>
                      </a:pPr>
                      <a:r>
                        <a:rPr/>
                        <a:t>No</a:t>
                      </a:r>
                    </a:p>
                  </a:txBody>
                </a:tc>
              </a:tr>
              <a:tr h="0">
                <a:tc>
                  <a:txBody>
                    <a:bodyPr/>
                    <a:lstStyle/>
                    <a:p>
                      <a:pPr lvl="0" indent="0" marL="0" algn="l">
                        <a:buNone/>
                      </a:pPr>
                      <a:r>
                        <a:rPr/>
                        <a:t>gear</a:t>
                      </a:r>
                    </a:p>
                  </a:txBody>
                </a:tc>
                <a:tc>
                  <a:txBody>
                    <a:bodyPr/>
                    <a:lstStyle/>
                    <a:p>
                      <a:pPr lvl="0" indent="0" marL="0" algn="ctr">
                        <a:buNone/>
                      </a:pPr>
                      <a:r>
                        <a:rPr/>
                        <a:t>No (0.19)</a:t>
                      </a:r>
                    </a:p>
                  </a:txBody>
                </a:tc>
                <a:tc>
                  <a:txBody>
                    <a:bodyPr/>
                    <a:lstStyle/>
                    <a:p>
                      <a:pPr lvl="0" indent="0" marL="0" algn="ctr">
                        <a:buNone/>
                      </a:pPr>
                      <a:r>
                        <a:rPr/>
                        <a:t>No (0.052)</a:t>
                      </a:r>
                    </a:p>
                  </a:txBody>
                </a:tc>
                <a:tc>
                  <a:txBody>
                    <a:bodyPr/>
                    <a:lstStyle/>
                    <a:p>
                      <a:pPr lvl="0" indent="0" marL="0" algn="ctr">
                        <a:buNone/>
                      </a:pPr>
                      <a:r>
                        <a:rPr/>
                        <a:t>No (0.341)</a:t>
                      </a:r>
                    </a:p>
                  </a:txBody>
                </a:tc>
                <a:tc>
                  <a:txBody>
                    <a:bodyPr/>
                    <a:lstStyle/>
                    <a:p>
                      <a:pPr lvl="0" indent="0" marL="0" algn="ctr">
                        <a:buNone/>
                      </a:pPr>
                      <a:r>
                        <a:rPr/>
                        <a:t>No (0.052)</a:t>
                      </a:r>
                    </a:p>
                  </a:txBody>
                </a:tc>
                <a:tc>
                  <a:txBody>
                    <a:bodyPr/>
                    <a:lstStyle/>
                    <a:p>
                      <a:pPr lvl="0" indent="0" marL="0" algn="ctr">
                        <a:buNone/>
                      </a:pPr>
                      <a:r>
                        <a:rPr/>
                        <a:t>No</a:t>
                      </a:r>
                    </a:p>
                  </a:txBody>
                </a:tc>
              </a:tr>
              <a:tr h="0">
                <a:tc>
                  <a:txBody>
                    <a:bodyPr/>
                    <a:lstStyle/>
                    <a:p>
                      <a:pPr lvl="0" indent="0" marL="0" algn="l">
                        <a:buNone/>
                      </a:pPr>
                      <a:r>
                        <a:rPr/>
                        <a:t>carb</a:t>
                      </a:r>
                    </a:p>
                  </a:txBody>
                </a:tc>
                <a:tc>
                  <a:txBody>
                    <a:bodyPr/>
                    <a:lstStyle/>
                    <a:p>
                      <a:pPr lvl="0" indent="0" marL="0" algn="ctr">
                        <a:buNone/>
                      </a:pPr>
                      <a:r>
                        <a:rPr/>
                        <a:t>No (0.34)</a:t>
                      </a:r>
                    </a:p>
                  </a:txBody>
                </a:tc>
                <a:tc>
                  <a:txBody>
                    <a:bodyPr/>
                    <a:lstStyle/>
                    <a:p>
                      <a:pPr lvl="0" indent="0" marL="0" algn="ctr">
                        <a:buNone/>
                      </a:pPr>
                      <a:r>
                        <a:rPr/>
                        <a:t>Yes (0.007)</a:t>
                      </a:r>
                    </a:p>
                  </a:txBody>
                </a:tc>
                <a:tc>
                  <a:txBody>
                    <a:bodyPr/>
                    <a:lstStyle/>
                    <a:p>
                      <a:pPr lvl="0" indent="0" marL="0" algn="ctr">
                        <a:buNone/>
                      </a:pPr>
                      <a:r>
                        <a:rPr/>
                        <a:t>Yes (&lt;0.001)</a:t>
                      </a:r>
                    </a:p>
                  </a:txBody>
                </a:tc>
                <a:tc>
                  <a:txBody>
                    <a:bodyPr/>
                    <a:lstStyle/>
                    <a:p>
                      <a:pPr lvl="0" indent="0" marL="0" algn="ctr">
                        <a:buNone/>
                      </a:pPr>
                      <a:r>
                        <a:rPr/>
                        <a:t>Yes (0.007)</a:t>
                      </a:r>
                    </a:p>
                  </a:txBody>
                </a:tc>
                <a:tc>
                  <a:txBody>
                    <a:bodyPr/>
                    <a:lstStyle/>
                    <a:p>
                      <a:pPr lvl="0" indent="0" marL="0" algn="ctr">
                        <a:buNone/>
                      </a:pPr>
                      <a:r>
                        <a:rPr/>
                        <a:t>No</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BLUE Requirements:</a:t>
            </a:r>
            <a:r>
              <a:rPr/>
              <a:t> - R² &gt; 0.5 indicates good model fit - All significance tests must have p &lt; 0.05 - Model must pass all criteria to be BLUE</a:t>
            </a:r>
          </a:p>
          <a:p>
            <a:pPr lvl="0" indent="0" marL="0">
              <a:buNone/>
            </a:pPr>
            <a:r>
              <a:rPr b="1"/>
              <a:t>Variable Relationships:</a:t>
            </a:r>
          </a:p>
        </p:txBody>
      </p:sp>
      <p:pic>
        <p:nvPicPr>
          <p:cNvPr descr="supervised_learning_files/figure-pptx/unnamed-chunk-7-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Most Important Car Features</a:t>
            </a:r>
          </a:p>
        </p:txBody>
      </p:sp>
      <p:sp>
        <p:nvSpPr>
          <p:cNvPr id="3" name="Content Placeholder 2"/>
          <p:cNvSpPr>
            <a:spLocks noGrp="1"/>
          </p:cNvSpPr>
          <p:nvPr>
            <p:ph idx="1"/>
          </p:nvPr>
        </p:nvSpPr>
        <p:spPr/>
        <p:txBody>
          <a:bodyPr/>
          <a:lstStyle/>
          <a:p>
            <a:pPr lvl="0" indent="0" marL="0">
              <a:spcBef>
                <a:spcPts val="3000"/>
              </a:spcBef>
              <a:buNone/>
            </a:pPr>
            <a:r>
              <a:rPr b="1"/>
              <a:t>Key Findings from Analysis</a:t>
            </a:r>
          </a:p>
          <a:p>
            <a:pPr lvl="0" indent="0" marL="0">
              <a:buNone/>
            </a:pPr>
            <a:r>
              <a:rPr b="1"/>
              <a:t>Top 4 Most Influential Features:</a:t>
            </a:r>
          </a:p>
          <a:p>
            <a:pPr lvl="0" indent="-342900" marL="342900">
              <a:buAutoNum type="arabicPeriod"/>
            </a:pPr>
            <a:r>
              <a:rPr b="1"/>
              <a:t>Number of Cylinders (cyl)</a:t>
            </a:r>
            <a:r>
              <a:rPr/>
              <a:t> (R² = 73.24%)</a:t>
            </a:r>
          </a:p>
          <a:p>
            <a:pPr lvl="1"/>
            <a:r>
              <a:rPr/>
              <a:t>Explains 73% of MPG variation.</a:t>
            </a:r>
          </a:p>
          <a:p>
            <a:pPr lvl="1"/>
            <a:r>
              <a:rPr/>
              <a:t>Very strong relationship with fuel efficiency.</a:t>
            </a:r>
          </a:p>
          <a:p>
            <a:pPr lvl="0" indent="-342900" marL="342900">
              <a:buAutoNum type="arabicPeriod"/>
            </a:pPr>
            <a:r>
              <a:rPr b="1"/>
              <a:t>Car Weight (wt)</a:t>
            </a:r>
            <a:r>
              <a:rPr/>
              <a:t> (R² = 73.16%)</a:t>
            </a:r>
          </a:p>
          <a:p>
            <a:pPr lvl="1"/>
            <a:r>
              <a:rPr/>
              <a:t>Almost equally important as cylinders.</a:t>
            </a:r>
          </a:p>
          <a:p>
            <a:pPr lvl="1"/>
            <a:r>
              <a:rPr/>
              <a:t>Heavier cars use more fuel.</a:t>
            </a:r>
          </a:p>
          <a:p>
            <a:pPr lvl="0" indent="-342900" marL="342900">
              <a:buAutoNum type="arabicPeriod"/>
            </a:pPr>
            <a:r>
              <a:rPr b="1"/>
              <a:t>Engine Size (disp)</a:t>
            </a:r>
            <a:r>
              <a:rPr/>
              <a:t> (R² = 67.87%)</a:t>
            </a:r>
          </a:p>
          <a:p>
            <a:pPr lvl="1"/>
            <a:r>
              <a:rPr/>
              <a:t>Larger engines typically use more fuel.</a:t>
            </a:r>
          </a:p>
          <a:p>
            <a:pPr lvl="1"/>
            <a:r>
              <a:rPr/>
              <a:t>Strong predictor of MPG.</a:t>
            </a:r>
          </a:p>
          <a:p>
            <a:pPr lvl="0" indent="-342900" marL="342900">
              <a:buAutoNum type="arabicPeriod"/>
            </a:pPr>
            <a:r>
              <a:rPr b="1"/>
              <a:t>Horsepower (hp)</a:t>
            </a:r>
            <a:r>
              <a:rPr/>
              <a:t> (R² = 56.83%)</a:t>
            </a:r>
          </a:p>
          <a:p>
            <a:pPr lvl="1"/>
            <a:r>
              <a:rPr/>
              <a:t>More power means more fuel consumption.</a:t>
            </a:r>
          </a:p>
          <a:p>
            <a:pPr lvl="1"/>
            <a:r>
              <a:rPr/>
              <a:t>Moderate to strong relationship.</a:t>
            </a:r>
          </a:p>
          <a:p>
            <a:pPr lvl="0" indent="0" marL="0">
              <a:buNone/>
            </a:pPr>
            <a:r>
              <a:rPr b="1"/>
              <a:t>Why These Matter:</a:t>
            </a:r>
            <a:r>
              <a:rPr/>
              <a:t> - All have strong statistical evidence (p &lt; 0.05). - Each explains more than 50% of MPG variation. - Show clear relationships with fuel efficiency.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Combining Car Features</a:t>
            </a:r>
          </a:p>
        </p:txBody>
      </p:sp>
      <p:sp>
        <p:nvSpPr>
          <p:cNvPr id="3" name="Content Placeholder 2"/>
          <p:cNvSpPr>
            <a:spLocks noGrp="1"/>
          </p:cNvSpPr>
          <p:nvPr>
            <p:ph idx="1"/>
          </p:nvPr>
        </p:nvSpPr>
        <p:spPr/>
        <p:txBody>
          <a:bodyPr/>
          <a:lstStyle/>
          <a:p>
            <a:pPr lvl="0" indent="0" marL="0">
              <a:spcBef>
                <a:spcPts val="3000"/>
              </a:spcBef>
              <a:buNone/>
            </a:pPr>
            <a:r>
              <a:rPr b="1"/>
              <a:t>Building a Better Model</a:t>
            </a:r>
          </a:p>
          <a:p>
            <a:pPr lvl="0" indent="0" marL="0">
              <a:buNone/>
            </a:pPr>
            <a:r>
              <a:rPr b="1"/>
              <a:t>Initial Approach:</a:t>
            </a:r>
            <a:r>
              <a:rPr/>
              <a:t> - Combined all important features together - Found some features were too closely related - Needed to simplify the model</a:t>
            </a:r>
          </a:p>
          <a:p>
            <a:pPr lvl="0" indent="0" marL="0">
              <a:buNone/>
            </a:pPr>
            <a:r>
              <a:rPr b="1"/>
              <a:t>Problem Found:</a:t>
            </a:r>
            <a:r>
              <a:rPr/>
              <a:t> - Engine size (disp) overlapped with other features - VIF Analysis showed redundant information: * Engine size VIF &gt; 10 (too high) * Other features had acceptable VIF values</a:t>
            </a:r>
          </a:p>
          <a:p>
            <a:pPr lvl="0" indent="0" marL="0">
              <a:buNone/>
            </a:pPr>
            <a:r>
              <a:rPr b="1"/>
              <a:t>Final Model:</a:t>
            </a:r>
            <a:r>
              <a:rPr/>
              <a:t> - Kept three key features: 1. Car Weight (wt) 2. Horsepower (hp) 3. Transmission Type (am) - Removed redundant engine size measure. - Maintained prediction accuracy.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LASSO Model Results</a:t>
            </a:r>
          </a:p>
        </p:txBody>
      </p:sp>
      <p:sp>
        <p:nvSpPr>
          <p:cNvPr id="4" name="Text Placeholder 3"/>
          <p:cNvSpPr>
            <a:spLocks noGrp="1"/>
          </p:cNvSpPr>
          <p:nvPr>
            <p:ph idx="2" sz="half" type="body"/>
          </p:nvPr>
        </p:nvSpPr>
        <p:spPr/>
        <p:txBody>
          <a:bodyPr/>
          <a:lstStyle/>
          <a:p>
            <a:pPr lvl="0" indent="0" marL="0">
              <a:spcBef>
                <a:spcPts val="3000"/>
              </a:spcBef>
              <a:buNone/>
            </a:pPr>
            <a:r>
              <a:rPr b="1"/>
              <a:t>Smart Feature Selection</a:t>
            </a:r>
          </a:p>
          <a:p>
            <a:pPr lvl="0" indent="0" marL="0">
              <a:buNone/>
            </a:pPr>
            <a:r>
              <a:rPr b="1"/>
              <a:t>What LASSO Does:</a:t>
            </a:r>
            <a:r>
              <a:rPr/>
              <a:t> - Automatically picks the most important car features - Removes less important features - Helps avoid overcomplicating the model</a:t>
            </a:r>
          </a:p>
          <a:p>
            <a:pPr lvl="0" indent="0" marL="0">
              <a:buNone/>
            </a:pPr>
            <a:r>
              <a:rPr b="1"/>
              <a:t>Key Results:</a:t>
            </a:r>
          </a:p>
          <a:p>
            <a:pPr lvl="0" indent="-342900" marL="342900">
              <a:buAutoNum type="arabicPeriod"/>
            </a:pPr>
            <a:r>
              <a:rPr/>
              <a:t>Most Important Features Selected:</a:t>
            </a:r>
          </a:p>
          <a:p>
            <a:pPr lvl="1"/>
            <a:r>
              <a:rPr/>
              <a:t>Car Weight (wt)</a:t>
            </a:r>
          </a:p>
          <a:p>
            <a:pPr lvl="1"/>
            <a:r>
              <a:rPr/>
              <a:t>Horsepower (hp)</a:t>
            </a:r>
          </a:p>
          <a:p>
            <a:pPr lvl="1"/>
            <a:r>
              <a:rPr/>
              <a:t>Transmission Type (Manual/Auto)</a:t>
            </a:r>
          </a:p>
          <a:p>
            <a:pPr lvl="0" indent="-342900" marL="342900">
              <a:buAutoNum type="arabicPeriod"/>
            </a:pPr>
            <a:r>
              <a:rPr/>
              <a:t>Model Performance:</a:t>
            </a:r>
          </a:p>
          <a:p>
            <a:pPr lvl="1"/>
            <a:r>
              <a:rPr/>
              <a:t>Training RMSE: Shows typical prediction error</a:t>
            </a:r>
          </a:p>
          <a:p>
            <a:pPr lvl="1"/>
            <a:r>
              <a:rPr/>
              <a:t>Testing RMSE: Confirms model reliability</a:t>
            </a:r>
          </a:p>
          <a:p>
            <a:pPr lvl="1"/>
            <a:r>
              <a:rPr/>
              <a:t>Similar performance to standard regression</a:t>
            </a:r>
          </a:p>
          <a:p>
            <a:pPr lvl="0" indent="0" marL="0">
              <a:buNone/>
            </a:pPr>
            <a:r>
              <a:rPr b="1"/>
              <a:t>Why This Matters:</a:t>
            </a:r>
            <a:r>
              <a:rPr/>
              <a:t> - Confirms our earlier findings. - Simpler model, similar accuracy. - More reliable predictions.</a:t>
            </a:r>
          </a:p>
          <a:p>
            <a:pPr lvl="0" indent="0" marL="0">
              <a:spcBef>
                <a:spcPts val="3000"/>
              </a:spcBef>
              <a:buNone/>
            </a:pPr>
            <a:r>
              <a:rPr b="1"/>
              <a:t>Visualizing LASSO: Finding the Best Balance</a:t>
            </a:r>
          </a:p>
        </p:txBody>
      </p:sp>
      <p:pic>
        <p:nvPicPr>
          <p:cNvPr descr="supervised_learning_files/figure-pptx/unnamed-chunk-8-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LASSO Cross-Validation: This chart helps LASSO find the best balance. It’s like tuning a radio to get the clearest signal – we’re finding the ‘sweet spot’ for our model. The dotted line shows the best point.</a:t>
            </a:r>
          </a:p>
        </p:txBody>
      </p:sp>
      <p:sp>
        <p:nvSpPr>
          <p:cNvPr id="3" name="Content Placeholder 2"/>
          <p:cNvSpPr>
            <a:spLocks noGrp="1"/>
          </p:cNvSpPr>
          <p:nvPr>
            <p:ph idx="1"/>
          </p:nvPr>
        </p:nvSpPr>
        <p:spPr/>
        <p:txBody>
          <a:bodyPr/>
          <a:lstStyle/>
          <a:p>
            <a:pPr lvl="0" indent="0" marL="0">
              <a:buNone/>
            </a:pPr>
            <a:r>
              <a:rPr/>
              <a:t>This plot shows how the model’s error changes as LASSO adjusts its “strictness” (lambda). The vertical dotted lines indicate optimal lambda values, helping us choose the best model.</a:t>
            </a:r>
          </a:p>
          <a:p>
            <a:pPr lvl="0" indent="0" marL="0">
              <a:spcBef>
                <a:spcPts val="3000"/>
              </a:spcBef>
              <a:buNone/>
            </a:pPr>
            <a:r>
              <a:rPr b="1"/>
              <a:t>Visualizing LASSO: Which Features Matter Most?</a:t>
            </a:r>
          </a:p>
        </p:txBody>
      </p:sp>
      <p:pic>
        <p:nvPicPr>
          <p:cNvPr descr="supervised_learning_files/figure-pptx/unnamed-chunk-9-1.png" id="0" name="Picture 1"/>
          <p:cNvPicPr>
            <a:picLocks noGrp="1" noChangeAspect="1"/>
          </p:cNvPicPr>
          <p:nvPr/>
        </p:nvPicPr>
        <p:blipFill>
          <a:blip r:embed="rId3"/>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LASSO Coefficient Path: Imagine LASSO as a manager deciding which players (features) are most valuable. This plot shows how, as LASSO gets stricter, it keeps only the star players and lets others go. Lines that stay high are important; lines that drop to zero are removed.</a:t>
            </a:r>
          </a:p>
        </p:txBody>
      </p:sp>
      <p:sp>
        <p:nvSpPr>
          <p:cNvPr id="3" name="Content Placeholder 2"/>
          <p:cNvSpPr>
            <a:spLocks noGrp="1"/>
          </p:cNvSpPr>
          <p:nvPr>
            <p:ph idx="1"/>
          </p:nvPr>
        </p:nvSpPr>
        <p:spPr/>
        <p:txBody>
          <a:bodyPr/>
          <a:lstStyle/>
          <a:p>
            <a:pPr lvl="0" indent="0" marL="0">
              <a:buNone/>
            </a:pPr>
            <a:r>
              <a:rPr/>
              <a:t>This chart shows the “MVPs” (Most Valuable Predictors) selected by LASSO. Bigger values (further from zero) mean more impact on fuel efficiency.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Performance Comparison</a:t>
            </a:r>
          </a:p>
        </p:txBody>
      </p:sp>
      <p:sp>
        <p:nvSpPr>
          <p:cNvPr id="3" name="Content Placeholder 2"/>
          <p:cNvSpPr>
            <a:spLocks noGrp="1"/>
          </p:cNvSpPr>
          <p:nvPr>
            <p:ph idx="1"/>
          </p:nvPr>
        </p:nvSpPr>
        <p:spPr/>
        <p:txBody>
          <a:bodyPr/>
          <a:lstStyle/>
          <a:p>
            <a:pPr lvl="0" indent="0" marL="0">
              <a:spcBef>
                <a:spcPts val="3000"/>
              </a:spcBef>
              <a:buNone/>
            </a:pPr>
            <a:r>
              <a:rPr b="1"/>
              <a:t>Comprehensive Metrics Analysis</a:t>
            </a:r>
          </a:p>
          <a:p>
            <a:pPr lvl="0" indent="0">
              <a:buNone/>
            </a:pPr>
            <a:r>
              <a:rPr>
                <a:latin typeface="Courier"/>
              </a:rPr>
              <a:t>                     RMSE   MAE    R2
Multiple Regression 2.663 2.214 0.807
LASSO Regression    2.369 1.882 0.847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Predicting Fuel Efficiency</a:t>
            </a:r>
          </a:p>
        </p:txBody>
      </p:sp>
      <p:sp>
        <p:nvSpPr>
          <p:cNvPr id="3" name="Content Placeholder 2"/>
          <p:cNvSpPr>
            <a:spLocks noGrp="1"/>
          </p:cNvSpPr>
          <p:nvPr>
            <p:ph idx="1"/>
          </p:nvPr>
        </p:nvSpPr>
        <p:spPr/>
        <p:txBody>
          <a:bodyPr/>
          <a:lstStyle/>
          <a:p>
            <a:pPr lvl="0" indent="0" marL="0">
              <a:spcBef>
                <a:spcPts val="3000"/>
              </a:spcBef>
              <a:buNone/>
            </a:pPr>
            <a:r>
              <a:rPr b="1"/>
              <a:t>Example: 6000 lbs Car</a:t>
            </a:r>
          </a:p>
          <a:p>
            <a:pPr lvl="0" indent="0" marL="0">
              <a:buNone/>
            </a:pPr>
            <a:r>
              <a:rPr b="1"/>
              <a:t>Prediction:</a:t>
            </a:r>
            <a:r>
              <a:rPr/>
              <a:t> - For a 6000 lbs car, predicted MPG is 13.41 - 95% sure it’s between 0.93 and 25.88 MPG</a:t>
            </a:r>
          </a:p>
          <a:p>
            <a:pPr lvl="0" indent="0" marL="0">
              <a:buNone/>
            </a:pPr>
            <a:r>
              <a:rPr b="1"/>
              <a:t>Important Note:</a:t>
            </a:r>
            <a:r>
              <a:rPr/>
              <a:t> - This is an estimate for a very heavy car - Our data doesn’t include cars this heavy - Predictions outside data range are less reliable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Takeaways &amp; Next Steps</a:t>
            </a:r>
          </a:p>
        </p:txBody>
      </p:sp>
      <p:sp>
        <p:nvSpPr>
          <p:cNvPr id="3" name="Content Placeholder 2"/>
          <p:cNvSpPr>
            <a:spLocks noGrp="1"/>
          </p:cNvSpPr>
          <p:nvPr>
            <p:ph idx="1"/>
          </p:nvPr>
        </p:nvSpPr>
        <p:spPr/>
        <p:txBody>
          <a:bodyPr/>
          <a:lstStyle/>
          <a:p>
            <a:pPr lvl="0" indent="0" marL="0">
              <a:spcBef>
                <a:spcPts val="3000"/>
              </a:spcBef>
              <a:buNone/>
            </a:pPr>
            <a:r>
              <a:rPr b="1"/>
              <a:t>Main Findings:</a:t>
            </a:r>
          </a:p>
          <a:p>
            <a:pPr lvl="0" indent="-342900" marL="342900">
              <a:buAutoNum type="arabicPeriod"/>
            </a:pPr>
            <a:r>
              <a:rPr/>
              <a:t>Car Weight, Horsepower, and Transmission are key for MPG</a:t>
            </a:r>
          </a:p>
          <a:p>
            <a:pPr lvl="0" indent="-342900" marL="342900">
              <a:buAutoNum type="arabicPeriod"/>
            </a:pPr>
            <a:r>
              <a:rPr/>
              <a:t>LASSO helps simplify models without losing accuracy</a:t>
            </a:r>
          </a:p>
          <a:p>
            <a:pPr lvl="0" indent="-342900" marL="342900">
              <a:buAutoNum type="arabicPeriod"/>
            </a:pPr>
            <a:r>
              <a:rPr/>
              <a:t>Predictions are useful but have limits</a:t>
            </a:r>
          </a:p>
          <a:p>
            <a:pPr lvl="0" indent="0" marL="0">
              <a:spcBef>
                <a:spcPts val="3000"/>
              </a:spcBef>
              <a:buNone/>
            </a:pPr>
            <a:r>
              <a:rPr b="1"/>
              <a:t>Recommendations:</a:t>
            </a:r>
          </a:p>
          <a:p>
            <a:pPr lvl="0" indent="-342900" marL="342900">
              <a:buAutoNum type="arabicPeriod"/>
            </a:pPr>
            <a:r>
              <a:rPr/>
              <a:t>Use modern car data for better insights</a:t>
            </a:r>
          </a:p>
          <a:p>
            <a:pPr lvl="0" indent="-342900" marL="342900">
              <a:buAutoNum type="arabicPeriod"/>
            </a:pPr>
            <a:r>
              <a:rPr/>
              <a:t>Explore more advanced modeling techniques</a:t>
            </a:r>
          </a:p>
          <a:p>
            <a:pPr lvl="0" indent="-342900" marL="342900">
              <a:buAutoNum type="arabicPeriod"/>
            </a:pPr>
            <a:r>
              <a:rPr/>
              <a:t>Always be cautious with predictions outside data range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a:t>
            </a:r>
          </a:p>
        </p:txBody>
      </p:sp>
      <p:sp>
        <p:nvSpPr>
          <p:cNvPr id="3" name="Content Placeholder 2"/>
          <p:cNvSpPr>
            <a:spLocks noGrp="1"/>
          </p:cNvSpPr>
          <p:nvPr>
            <p:ph idx="1"/>
          </p:nvPr>
        </p:nvSpPr>
        <p:spPr/>
        <p:txBody>
          <a:bodyPr/>
          <a:lstStyle/>
          <a:p>
            <a:pPr lvl="0" indent="0" marL="0">
              <a:buNone/>
            </a:pPr>
            <a:r>
              <a:rPr/>
              <a:t>Thank you for your attention!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Car Fuel Efficiency</dc:title>
  <dc:creator>Mandip Chaudhary (17)</dc:creator>
  <cp:keywords/>
  <dcterms:created xsi:type="dcterms:W3CDTF">2025-05-07T15:46:12Z</dcterms:created>
  <dcterms:modified xsi:type="dcterms:W3CDTF">2025-05-07T15:46:12Z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A Data-Driven Analysis Using the mtcars Dataset</vt:lpwstr>
  </property>
  <property fmtid="{D5CDD505-2E9C-101B-9397-08002B2CF9AE}" pid="11" name="toc-title">
    <vt:lpwstr>Table of contents</vt:lpwstr>
  </property>
</Properties>
</file>