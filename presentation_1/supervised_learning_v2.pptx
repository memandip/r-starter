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Supervised Learning with mtcars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Comprehensive Analysis of Car Fuel Efficiency Prediction</a:t>
            </a:r>
            <a:br/>
            <a:br/>
            <a:r>
              <a:rPr/>
              <a:t>Mandip Chaudhary (17)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Dataset Overview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Motor Trend Car Road Tests (1974)</a:t>
            </a:r>
          </a:p>
          <a:p>
            <a:pPr lvl="0" indent="0" marL="0">
              <a:buNone/>
            </a:pPr>
            <a:r>
              <a:rPr b="1"/>
              <a:t>Dataset Characteristics:</a:t>
            </a:r>
            <a:r>
              <a:rPr/>
              <a:t> - 32 automobiles (1973-74 models) - 11 key variables measuring various aspects - Focus: Understanding fuel efficiency (MPG)</a:t>
            </a:r>
          </a:p>
          <a:p>
            <a:pPr lvl="0" indent="0" marL="0">
              <a:buNone/>
            </a:pPr>
            <a:r>
              <a:rPr b="1"/>
              <a:t>Variables in Detail:</a:t>
            </a:r>
            <a:r>
              <a:rPr/>
              <a:t> - MPG (Dependent): Miles per gallon - CYL: Number of cylinders (4, 6, 8) - DISP: Engine displacement (cu.in.) - HP: Gross horsepower - DRAT: Rear axle ratio - WT: Weight (1000 lbs) - QSEC: 1/4 mile time - VS: Engine type (V/Straight) - AM: Transmission type (Auto/Manual) - GEAR: Number of forward gears - CARB: Number of carburetors</a:t>
            </a:r>
          </a:p>
        </p:txBody>
      </p:sp>
      <p:pic>
        <p:nvPicPr>
          <p:cNvPr descr="supervised_learning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Preparation: Training vs Testing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Robust Split Methodology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(datasets)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17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train_index &lt;- </a:t>
            </a:r>
            <a:r>
              <a:rPr>
                <a:solidFill>
                  <a:srgbClr val="4758AB"/>
                </a:solidFill>
                <a:latin typeface="Courier"/>
              </a:rPr>
              <a:t>sample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(mtcars), </a:t>
            </a:r>
            <a:r>
              <a:rPr>
                <a:solidFill>
                  <a:srgbClr val="657422"/>
                </a:solidFill>
                <a:latin typeface="Courier"/>
              </a:rPr>
              <a:t>replace =</a:t>
            </a:r>
            <a:r>
              <a:rPr>
                <a:solidFill>
                  <a:srgbClr val="003B4F"/>
                </a:solidFill>
                <a:latin typeface="Courier"/>
              </a:rPr>
              <a:t> T, </a:t>
            </a:r>
            <a:r>
              <a:rPr>
                <a:solidFill>
                  <a:srgbClr val="657422"/>
                </a:solidFill>
                <a:latin typeface="Courier"/>
              </a:rPr>
              <a:t>prob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train_data &lt;- mtcars[train_index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test_data &lt;- mtcars[train_index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]</a:t>
            </a:r>
          </a:p>
          <a:p>
            <a:pPr lvl="0" indent="0" marL="0">
              <a:buNone/>
            </a:pPr>
            <a:r>
              <a:rPr b="1"/>
              <a:t>Training Dataset (70%)</a:t>
            </a:r>
            <a:r>
              <a:rPr/>
              <a:t> - Size: 20 observations - Purpose: Model building and parameter estimation - Used for: Initial modeling, BLUE analysis, VIF calculations</a:t>
            </a:r>
          </a:p>
          <a:p>
            <a:pPr lvl="0" indent="0" marL="0">
              <a:buNone/>
            </a:pPr>
            <a:r>
              <a:rPr b="1"/>
              <a:t>Testing Dataset (30%)</a:t>
            </a:r>
            <a:r>
              <a:rPr/>
              <a:t> - Size: 12 observations - Purpose: Unbiased performance evaluation - Used for: Model validation, prediction accuracy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 Characteristics:</a:t>
            </a:r>
          </a:p>
          <a:p>
            <a:pPr lvl="0" indent="0" marL="0">
              <a:buNone/>
            </a:pPr>
            <a:r>
              <a:rPr/>
              <a:t>Training Set MPG Statistics: - Mean: 21.97 - Median: 20.35 - Range: 14.3 - 33.9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Simple Linear Regression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Individual Variable Performance</a:t>
            </a:r>
          </a:p>
          <a:p>
            <a:pPr lvl="0" indent="0" marL="0">
              <a:buNone/>
            </a:pPr>
            <a:r>
              <a:rPr b="1"/>
              <a:t>Top Performing Variables (R² values):</a:t>
            </a:r>
          </a:p>
          <a:p>
            <a:pPr lvl="0" indent="0">
              <a:buNone/>
            </a:pPr>
            <a:r>
              <a:rPr>
                <a:latin typeface="Courier"/>
              </a:rPr>
              <a:t>cyl: 73.2% (p = 0.0000014968)
wt: 73.2% (p = 0.0000015375)
disp: 67.9% (p = 0.0000080226)
hp: 56.8% (p = 0.0001238260)</a:t>
            </a:r>
          </a:p>
          <a:p>
            <a:pPr lvl="0" indent="0" marL="0">
              <a:buNone/>
            </a:pPr>
            <a:r>
              <a:rPr b="1"/>
              <a:t>Variable Relationships:</a:t>
            </a:r>
          </a:p>
        </p:txBody>
      </p:sp>
      <p:pic>
        <p:nvPicPr>
          <p:cNvPr descr="supervised_learning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BLUE Analysis - Part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Gauss-Markov Assumptions Check</a:t>
            </a:r>
          </a:p>
          <a:p>
            <a:pPr lvl="0" indent="0" marL="0">
              <a:buNone/>
            </a:pPr>
            <a:r>
              <a:rPr b="1"/>
              <a:t>1. Linearity Assessment:</a:t>
            </a:r>
            <a:r>
              <a:rPr/>
              <a:t> - Scatterplots reveal non-linear patterns - Residual plots show systematic curvature - Evidence of non-linear relationships with MPG</a:t>
            </a:r>
          </a:p>
          <a:p>
            <a:pPr lvl="0" indent="0" marL="0">
              <a:buNone/>
            </a:pPr>
            <a:r>
              <a:rPr b="1"/>
              <a:t>2. Independence Verification:</a:t>
            </a:r>
            <a:r>
              <a:rPr/>
              <a:t> - Data points from different manufacturers - No obvious temporal dependencies - Assumed independent observations</a:t>
            </a:r>
          </a:p>
        </p:txBody>
      </p:sp>
      <p:pic>
        <p:nvPicPr>
          <p:cNvPr descr="supervised_learning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pervised_learning_files/figure-pptx/unnamed-chunk-7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pervised_learning_files/figure-pptx/unnamed-chunk-7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pervised_learning_files/figure-pptx/unnamed-chunk-7-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BLUE Analysis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Detailed Residual Analysis</a:t>
            </a:r>
          </a:p>
          <a:p>
            <a:pPr lvl="0" indent="0" marL="0">
              <a:buNone/>
            </a:pPr>
            <a:r>
              <a:rPr b="1"/>
              <a:t>3. Homoscedasticity Check:</a:t>
            </a:r>
            <a:r>
              <a:rPr/>
              <a:t> - Varying spread in residuals - Evidence of heteroscedasticity - Scale-Location plots show patterns</a:t>
            </a:r>
          </a:p>
          <a:p>
            <a:pPr lvl="0" indent="0" marL="0">
              <a:buNone/>
            </a:pPr>
            <a:r>
              <a:rPr b="1"/>
              <a:t>4. Error Distribution:</a:t>
            </a:r>
            <a:r>
              <a:rPr/>
              <a:t> - Q-Q plots show deviations - Non-normal residuals in most models - Affects inference reliability</a:t>
            </a:r>
          </a:p>
          <a:p>
            <a:pPr lvl="0" indent="0" marL="0">
              <a:buNone/>
            </a:pPr>
            <a:r>
              <a:rPr b="1"/>
              <a:t>Statistical Evidence:</a:t>
            </a:r>
          </a:p>
          <a:p>
            <a:pPr lvl="0" indent="0">
              <a:buNone/>
            </a:pPr>
            <a:r>
              <a:rPr>
                <a:latin typeface="Courier"/>
              </a:rPr>
              <a:t>Breusch-Pagan Test (Homoscedasticity):</a:t>
            </a:r>
          </a:p>
          <a:p>
            <a:pPr lvl="0" indent="0">
              <a:buNone/>
            </a:pPr>
            <a:r>
              <a:rPr>
                <a:latin typeface="Courier"/>
              </a:rPr>
              <a:t>p-value: 0.0397</a:t>
            </a:r>
          </a:p>
          <a:p>
            <a:pPr lvl="0" indent="0">
              <a:buNone/>
            </a:pPr>
            <a:r>
              <a:rPr>
                <a:latin typeface="Courier"/>
              </a:rPr>
              <a:t>
Shapiro-Wilk Test (Normality):</a:t>
            </a:r>
          </a:p>
          <a:p>
            <a:pPr lvl="0" indent="0">
              <a:buNone/>
            </a:pPr>
            <a:r>
              <a:rPr>
                <a:latin typeface="Courier"/>
              </a:rPr>
              <a:t>p-value: 0.8736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 Regression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Building the Comprehensive Model</a:t>
            </a:r>
          </a:p>
          <a:p>
            <a:pPr lvl="0" indent="0" marL="0">
              <a:buNone/>
            </a:pPr>
            <a:r>
              <a:rPr b="1"/>
              <a:t>1. Variable Selection Process:</a:t>
            </a:r>
            <a:r>
              <a:rPr/>
              <a:t> - Started with significant predictors (p &lt; 0.05):</a:t>
            </a:r>
          </a:p>
          <a:p>
            <a:pPr lvl="0" indent="0">
              <a:buNone/>
            </a:pPr>
            <a:r>
              <a:rPr>
                <a:latin typeface="Courier"/>
              </a:rPr>
              <a:t>cyl, wt, disp, hp, drat, am, vs, carb, qsec</a:t>
            </a:r>
          </a:p>
          <a:p>
            <a:pPr lvl="0" indent="0" marL="0">
              <a:buNone/>
            </a:pPr>
            <a:r>
              <a:rPr b="1"/>
              <a:t>2. Initial Multiple Regression:</a:t>
            </a:r>
          </a:p>
          <a:p>
            <a:pPr lvl="0" indent="0">
              <a:buNone/>
            </a:pPr>
            <a:r>
              <a:rPr>
                <a:latin typeface="Courier"/>
              </a:rPr>
              <a:t>R-squared: 0.875 </a:t>
            </a:r>
          </a:p>
          <a:p>
            <a:pPr lvl="0" indent="0">
              <a:buNone/>
            </a:pPr>
            <a:r>
              <a:rPr>
                <a:latin typeface="Courier"/>
              </a:rPr>
              <a:t>Adjusted R-squared: 0.7625 </a:t>
            </a:r>
          </a:p>
          <a:p>
            <a:pPr lvl="0" indent="0">
              <a:buNone/>
            </a:pPr>
            <a:r>
              <a:rPr>
                <a:latin typeface="Courier"/>
              </a:rPr>
              <a:t>F-statistic: 7.78  on 9 and 10 DF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Multicollinearity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VIF Assessment and Model Refinement</a:t>
            </a:r>
          </a:p>
          <a:p>
            <a:pPr lvl="0" indent="0" marL="0">
              <a:buNone/>
            </a:pPr>
            <a:r>
              <a:rPr b="1"/>
              <a:t>Initial VIF Values:</a:t>
            </a:r>
          </a:p>
          <a:p>
            <a:pPr lvl="0" indent="0">
              <a:buNone/>
            </a:pPr>
            <a:r>
              <a:rPr>
                <a:latin typeface="Courier"/>
              </a:rPr>
              <a:t>  cyl    wt  disp    hp  drat    am    vs  carb  qsec 
15.46 14.30 30.66 21.52  4.06  7.05  9.40 11.71 14.52 </a:t>
            </a:r>
          </a:p>
          <a:p>
            <a:pPr lvl="0" indent="0" marL="0">
              <a:buNone/>
            </a:pPr>
            <a:r>
              <a:rPr b="1"/>
              <a:t>Variable Elimination Process:</a:t>
            </a:r>
            <a:r>
              <a:rPr/>
              <a:t> 1. Remove highest VIF variable iteratively 2. Recalculate VIF after each removal 3. Continue until all VIF &lt; 10</a:t>
            </a:r>
          </a:p>
          <a:p>
            <a:pPr lvl="0" indent="0" marL="0">
              <a:buNone/>
            </a:pPr>
            <a:r>
              <a:rPr b="1"/>
              <a:t>Final Model Variables:</a:t>
            </a:r>
          </a:p>
          <a:p>
            <a:pPr lvl="0" indent="0">
              <a:buNone/>
            </a:pPr>
            <a:r>
              <a:rPr>
                <a:latin typeface="Courier"/>
              </a:rPr>
              <a:t>wt, hp, am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LASSO Regression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Advanced Variable Selection</a:t>
            </a:r>
          </a:p>
          <a:p>
            <a:pPr lvl="0" indent="0" marL="0">
              <a:buNone/>
            </a:pPr>
            <a:r>
              <a:rPr b="1"/>
              <a:t>LASSO Implementation:</a:t>
            </a:r>
            <a:r>
              <a:rPr/>
              <a:t> 1. Cross-validation for lambda selection 2. Automatic variable selection 3. Coefficient shrinkage effect</a:t>
            </a:r>
          </a:p>
        </p:txBody>
      </p:sp>
      <p:pic>
        <p:nvPicPr>
          <p:cNvPr descr="supervised_learning_files/figure-pptx/unnamed-chunk-1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Selected Variables and Coefficients:</a:t>
            </a:r>
          </a:p>
          <a:p>
            <a:pPr lvl="0" indent="0">
              <a:buNone/>
            </a:pPr>
            <a:r>
              <a:rPr>
                <a:latin typeface="Courier"/>
              </a:rPr>
              <a:t>11 x 1 sparse Matrix of class "dgCMatrix"
                    s1
(Intercept)  6.9840848
cyl          .        
disp         .        
hp           .        
drat         2.1555483
wt          -2.8676564
qsec         0.7922317
vs           .        
am           1.3174736
gear         0.6218162
carb        -0.6589320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Comprehensive Metrics Analysis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  RMSE   MAE    R2
Multiple Regression 2.663 2.214 0.807
LASSO Regression    2.284 1.823 0.858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6000 lbs Car Case Study</a:t>
            </a:r>
          </a:p>
          <a:p>
            <a:pPr lvl="0" indent="0" marL="0">
              <a:buNone/>
            </a:pPr>
            <a:r>
              <a:rPr b="1"/>
              <a:t>Prediction Setup:</a:t>
            </a:r>
            <a:r>
              <a:rPr/>
              <a:t> - Weight: 6000 lbs (wt = 6) - Other variables: Set to means</a:t>
            </a:r>
          </a:p>
          <a:p>
            <a:pPr lvl="0" indent="0" marL="0">
              <a:buNone/>
            </a:pPr>
            <a:r>
              <a:rPr b="1"/>
              <a:t>Multiple Regression Prediction:</a:t>
            </a:r>
          </a:p>
          <a:p>
            <a:pPr lvl="0" indent="0">
              <a:buNone/>
            </a:pPr>
            <a:r>
              <a:rPr>
                <a:latin typeface="Courier"/>
              </a:rPr>
              <a:t>Predicted MPG: 13.41</a:t>
            </a:r>
          </a:p>
          <a:p>
            <a:pPr lvl="0" indent="0">
              <a:buNone/>
            </a:pPr>
            <a:r>
              <a:rPr>
                <a:latin typeface="Courier"/>
              </a:rPr>
              <a:t>95% Prediction Interval: (0.93, 25.88)</a:t>
            </a:r>
          </a:p>
          <a:p>
            <a:pPr lvl="0" indent="0" marL="0">
              <a:buNone/>
            </a:pPr>
            <a:r>
              <a:rPr b="1"/>
              <a:t>Caution:</a:t>
            </a:r>
            <a:r>
              <a:rPr/>
              <a:t> This is an extrapolation! - Training data weight range: 1.51, 5.34 - Prediction reliability decreases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Comprehensive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Science Approach</a:t>
            </a:r>
          </a:p>
          <a:p>
            <a:pPr lvl="0" indent="0" marL="0">
              <a:buNone/>
            </a:pPr>
            <a:r>
              <a:rPr b="1"/>
              <a:t>1. Data Quality Improvements:</a:t>
            </a:r>
            <a:r>
              <a:rPr/>
              <a:t> - Collect modern car data - Include hybrid/electric vehicles - Expand feature set (aerodynamics, tech)</a:t>
            </a:r>
          </a:p>
          <a:p>
            <a:pPr lvl="0" indent="0" marL="0">
              <a:buNone/>
            </a:pPr>
            <a:r>
              <a:rPr b="1"/>
              <a:t>2. Modeling Enhancements:</a:t>
            </a:r>
            <a:r>
              <a:rPr/>
              <a:t> - Consider non-linear relationships - Explore interaction terms - Implement robust regression</a:t>
            </a:r>
          </a:p>
          <a:p>
            <a:pPr lvl="0" indent="0" marL="0">
              <a:buNone/>
            </a:pPr>
            <a:r>
              <a:rPr b="1"/>
              <a:t>3. Practical Implementation:</a:t>
            </a:r>
            <a:r>
              <a:rPr/>
              <a:t> - Regular model updates - Confidence interval reporting - Extrapolation warnings</a:t>
            </a:r>
          </a:p>
          <a:p>
            <a:pPr lvl="0" indent="0" marL="0">
              <a:buNone/>
            </a:pPr>
            <a:r>
              <a:rPr b="1"/>
              <a:t>4. Future Considerations:</a:t>
            </a:r>
            <a:r>
              <a:rPr/>
              <a:t> - Alternative algorithms (RF, GBM) - Cross-validation strategies - Feature engineering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 for your attention!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 with mtcars Dataset</dc:title>
  <dc:creator>Mandip Chaudhary (17)</dc:creator>
  <cp:keywords/>
  <dcterms:created xsi:type="dcterms:W3CDTF">2025-05-06T16:48:45Z</dcterms:created>
  <dcterms:modified xsi:type="dcterms:W3CDTF">2025-05-06T16:48:45Z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A Comprehensive Analysis of Car Fuel Efficiency Prediction</vt:lpwstr>
  </property>
  <property fmtid="{D5CDD505-2E9C-101B-9397-08002B2CF9AE}" pid="11" name="toc-title">
    <vt:lpwstr>Table of contents</vt:lpwstr>
  </property>
</Properties>
</file>