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5" Type="http://schemas.openxmlformats.org/officeDocument/2006/relationships/viewProps" Target="viewProps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Supervised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Mandip Chaudhary (17)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Dataset: Motor Trend Car Road Tests (mtcars)</a:t>
            </a:r>
          </a:p>
          <a:p>
            <a:pPr lvl="0"/>
            <a:r>
              <a:rPr/>
              <a:t>Goal: Predict car fuel efficiency (MPG)</a:t>
            </a:r>
          </a:p>
          <a:p>
            <a:pPr lvl="0"/>
            <a:r>
              <a:rPr/>
              <a:t>Methods used: Simple Linear Regression, Multiple Regression, LASSO</a:t>
            </a:r>
          </a:p>
          <a:p>
            <a:pPr lvl="0"/>
            <a:r>
              <a:rPr/>
              <a:t>Focus on model quality and prediction capability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Training Data (70%)</a:t>
            </a:r>
          </a:p>
          <a:p>
            <a:pPr lvl="0"/>
            <a:r>
              <a:rPr/>
              <a:t>Used to build models</a:t>
            </a:r>
          </a:p>
          <a:p>
            <a:pPr lvl="0"/>
            <a:r>
              <a:rPr/>
              <a:t>Size: 20 cars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Testing Data (30%)</a:t>
            </a:r>
          </a:p>
          <a:p>
            <a:pPr lvl="0"/>
            <a:r>
              <a:rPr/>
              <a:t>Used to evaluate models</a:t>
            </a:r>
          </a:p>
          <a:p>
            <a:pPr lvl="0"/>
            <a:r>
              <a:rPr/>
              <a:t>Size: 12 cars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Simple Linear Regression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Individual Models: MPG vs Each Variable</a:t>
            </a:r>
          </a:p>
          <a:p>
            <a:pPr lvl="0" indent="0" marL="0">
              <a:buNone/>
            </a:pPr>
            <a:r>
              <a:rPr/>
              <a:t>Top performers (R² values):</a:t>
            </a:r>
          </a:p>
          <a:p>
            <a:pPr lvl="0" indent="0">
              <a:buNone/>
            </a:pPr>
            <a:r>
              <a:rPr>
                <a:latin typeface="Courier"/>
              </a:rPr>
              <a:t>- cyl: 73.2%
- wt: 73.2%
- disp: 67.9%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Aren’t These Models BLUE?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BLUE = Best Linear Unbiased Estimator</a:t>
            </a:r>
          </a:p>
          <a:p>
            <a:pPr lvl="0" indent="0" marL="0">
              <a:buNone/>
            </a:pPr>
            <a:r>
              <a:rPr/>
              <a:t>Common violations found:</a:t>
            </a:r>
          </a:p>
          <a:p>
            <a:pPr lvl="0" indent="-342900" marL="342900">
              <a:buAutoNum type="arabicPeriod"/>
            </a:pPr>
            <a:r>
              <a:rPr/>
              <a:t>Non-linear relationships with MPG</a:t>
            </a:r>
          </a:p>
          <a:p>
            <a:pPr lvl="0" indent="-342900" marL="342900">
              <a:buAutoNum type="arabicPeriod"/>
            </a:pPr>
            <a:r>
              <a:rPr/>
              <a:t>Uneven spread in residuals</a:t>
            </a:r>
          </a:p>
          <a:p>
            <a:pPr lvl="0" indent="-342900" marL="342900">
              <a:buAutoNum type="arabicPeriod"/>
            </a:pPr>
            <a:r>
              <a:rPr/>
              <a:t>Discrete predictor issues</a:t>
            </a:r>
          </a:p>
          <a:p>
            <a:pPr lvl="0" indent="-342900" marL="342900">
              <a:buAutoNum type="arabicPeriod"/>
            </a:pPr>
            <a:r>
              <a:rPr/>
              <a:t>Zero mean assumption violations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Multiple Regression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Started with significant predictors (p &lt; 0.05)</a:t>
            </a:r>
          </a:p>
          <a:p>
            <a:pPr lvl="0" indent="-342900" marL="342900">
              <a:buAutoNum type="arabicPeriod"/>
            </a:pPr>
            <a:r>
              <a:rPr/>
              <a:t>Checked for multicollinearity using VIF</a:t>
            </a:r>
          </a:p>
          <a:p>
            <a:pPr lvl="0" indent="-342900" marL="342900">
              <a:buAutoNum type="arabicPeriod"/>
            </a:pPr>
            <a:r>
              <a:rPr/>
              <a:t>Removed variables with VIF ≥ 10</a:t>
            </a:r>
          </a:p>
          <a:p>
            <a:pPr lvl="0" indent="-342900" marL="342900">
              <a:buAutoNum type="arabicPeriod"/>
            </a:pPr>
            <a:r>
              <a:rPr/>
              <a:t>Created final multiple regression model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LASSO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LASSO?</a:t>
            </a:r>
          </a:p>
          <a:p>
            <a:pPr lvl="0"/>
            <a:r>
              <a:rPr/>
              <a:t>Least Absolute Shrinkage and Selection Operator</a:t>
            </a:r>
          </a:p>
          <a:p>
            <a:pPr lvl="0"/>
            <a:r>
              <a:rPr/>
              <a:t>Automatically selects important variables</a:t>
            </a:r>
          </a:p>
          <a:p>
            <a:pPr lvl="0"/>
            <a:r>
              <a:rPr/>
              <a:t>Helps with multicollinearity</a:t>
            </a:r>
          </a:p>
          <a:p>
            <a:pPr lvl="0"/>
            <a:r>
              <a:rPr/>
              <a:t>Can improve prediction accuracy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Model Performance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                 RMSE  MAE   R2
Multiple (Train) 2.66 2.21 0.81
Multiple (Test)  1.87 1.60 0.79
LASSO (Train)    3.71 3.05 0.63
LASSO (Test)     3.45 2.81 0.30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Can We Use This Model for Prediction?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Yes, but with cautions:</a:t>
            </a:r>
          </a:p>
          <a:p>
            <a:pPr lvl="0" indent="-342900" marL="342900">
              <a:buAutoNum type="arabicPeriod"/>
            </a:pPr>
            <a:r>
              <a:rPr/>
              <a:t>Works best within training data range</a:t>
            </a:r>
          </a:p>
          <a:p>
            <a:pPr lvl="0" indent="-342900" marL="342900">
              <a:buAutoNum type="arabicPeriod"/>
            </a:pPr>
            <a:r>
              <a:rPr/>
              <a:t>Avoid extrapolation (predictions outside data range)</a:t>
            </a:r>
          </a:p>
          <a:p>
            <a:pPr lvl="0" indent="-342900" marL="342900">
              <a:buAutoNum type="arabicPeriod"/>
            </a:pPr>
            <a:r>
              <a:rPr/>
              <a:t>Consider prediction intervals for uncertainty</a:t>
            </a:r>
          </a:p>
          <a:p>
            <a:pPr lvl="0" indent="-342900" marL="342900">
              <a:buAutoNum type="arabicPeriod"/>
            </a:pPr>
            <a:r>
              <a:rPr/>
              <a:t>Regular model updates recommended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Data splitting is crucial for model validation</a:t>
            </a:r>
          </a:p>
          <a:p>
            <a:pPr lvl="0" indent="-342900" marL="342900">
              <a:buAutoNum type="arabicPeriod"/>
            </a:pPr>
            <a:r>
              <a:rPr/>
              <a:t>Simple models weren’t BLUE - assumptions violated</a:t>
            </a:r>
          </a:p>
          <a:p>
            <a:pPr lvl="0" indent="-342900" marL="342900">
              <a:buAutoNum type="arabicPeriod"/>
            </a:pPr>
            <a:r>
              <a:rPr/>
              <a:t>LASSO helped handle multicollinearity</a:t>
            </a:r>
          </a:p>
          <a:p>
            <a:pPr lvl="0" indent="-342900" marL="342900">
              <a:buAutoNum type="arabicPeriod"/>
            </a:pPr>
            <a:r>
              <a:rPr/>
              <a:t>Model works but has clear limitations</a:t>
            </a:r>
          </a:p>
          <a:p>
            <a:pPr lvl="0" indent="-342900" marL="342900">
              <a:buAutoNum type="arabicPeriod"/>
            </a:pPr>
            <a:r>
              <a:rPr/>
              <a:t>Always validate assumptions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Gather more modern car data</a:t>
            </a:r>
          </a:p>
          <a:p>
            <a:pPr lvl="0" indent="-342900" marL="342900">
              <a:buAutoNum type="arabicPeriod"/>
            </a:pPr>
            <a:r>
              <a:rPr/>
              <a:t>Consider non-linear relationships</a:t>
            </a:r>
          </a:p>
          <a:p>
            <a:pPr lvl="0" indent="-342900" marL="342900">
              <a:buAutoNum type="arabicPeriod"/>
            </a:pPr>
            <a:r>
              <a:rPr/>
              <a:t>Include more relevant features</a:t>
            </a:r>
          </a:p>
          <a:p>
            <a:pPr lvl="0" indent="-342900" marL="342900">
              <a:buAutoNum type="arabicPeriod"/>
            </a:pPr>
            <a:r>
              <a:rPr/>
              <a:t>Use prediction intervals</a:t>
            </a:r>
          </a:p>
          <a:p>
            <a:pPr lvl="0" indent="-342900" marL="342900">
              <a:buAutoNum type="arabicPeriod"/>
            </a:pPr>
            <a:r>
              <a:rPr/>
              <a:t>Regular model updates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Questions?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 you for your attention!</a:t>
            </a:r>
          </a:p>
          <a:p>
            <a:pPr lvl="0" indent="0" marL="0">
              <a:buNone/>
            </a:pPr>
            <a:r>
              <a:rPr/>
              <a:t>Contact: Mandip Chaudhary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Supervised Learning</dc:title>
  <dc:creator>Mandip Chaudhary (17)</dc:creator>
  <cp:keywords/>
  <dcterms:created xsi:type="dcterms:W3CDTF">2025-05-05T17:08:04Z</dcterms:created>
  <dcterms:modified xsi:type="dcterms:W3CDTF">2025-05-05T17:08:04Z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ditor">
    <vt:lpwstr>visual</vt:lpwstr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toc-title">
    <vt:lpwstr>Table of contents</vt:lpwstr>
  </property>
</Properties>
</file>